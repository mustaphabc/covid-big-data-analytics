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92" r:id="rId9"/>
    <p:sldId id="264" r:id="rId10"/>
    <p:sldId id="266" r:id="rId11"/>
    <p:sldId id="268" r:id="rId12"/>
    <p:sldId id="293" r:id="rId13"/>
    <p:sldId id="270" r:id="rId14"/>
    <p:sldId id="272" r:id="rId15"/>
    <p:sldId id="294" r:id="rId16"/>
    <p:sldId id="290" r:id="rId17"/>
    <p:sldId id="291" r:id="rId18"/>
  </p:sldIdLst>
  <p:sldSz cx="18288000" cy="10287000"/>
  <p:notesSz cx="6858000" cy="9144000"/>
  <p:embeddedFontLst>
    <p:embeddedFont>
      <p:font typeface="Archivo Black" panose="020B0604020202020204" charset="0"/>
      <p:regular r:id="rId20"/>
    </p:embeddedFont>
    <p:embeddedFont>
      <p:font typeface="Arial Unicode MS" panose="020B0604020202020204" pitchFamily="34" charset="-128"/>
      <p:regular r:id="rId21"/>
    </p:embeddedFont>
    <p:embeddedFont>
      <p:font typeface="League Spartan" panose="020B0604020202020204" charset="0"/>
      <p:regular r:id="rId22"/>
    </p:embeddedFont>
    <p:embeddedFont>
      <p:font typeface="Noto Sans" panose="020B0502040504020204" pitchFamily="34" charset="0"/>
      <p:regular r:id="rId23"/>
      <p:bold r:id="rId24"/>
      <p:italic r:id="rId25"/>
      <p:boldItalic r:id="rId26"/>
    </p:embeddedFont>
    <p:embeddedFont>
      <p:font typeface="Noto Sans Bold" panose="020B0802040504020204" charset="0"/>
      <p:regular r:id="rId27"/>
    </p:embeddedFont>
    <p:embeddedFont>
      <p:font typeface="Open Sans 1" panose="020B0604020202020204" charset="0"/>
      <p:regular r:id="rId28"/>
    </p:embeddedFont>
    <p:embeddedFont>
      <p:font typeface="Open Sans 1 Bold" panose="020B0604020202020204" charset="0"/>
      <p:regular r:id="rId29"/>
    </p:embeddedFont>
    <p:embeddedFont>
      <p:font typeface="Railey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26.06.2025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gggggggggffearawr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image" Target="../media/image17.svg"/><Relationship Id="rId21" Type="http://schemas.openxmlformats.org/officeDocument/2006/relationships/image" Target="../media/image33.svg"/><Relationship Id="rId7" Type="http://schemas.openxmlformats.org/officeDocument/2006/relationships/image" Target="../media/image21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19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8.png"/><Relationship Id="rId9" Type="http://schemas.openxmlformats.org/officeDocument/2006/relationships/image" Target="../media/image9.sv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svg"/><Relationship Id="rId3" Type="http://schemas.openxmlformats.org/officeDocument/2006/relationships/image" Target="../media/image35.svg"/><Relationship Id="rId7" Type="http://schemas.openxmlformats.org/officeDocument/2006/relationships/image" Target="../media/image17.svg"/><Relationship Id="rId12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37.svg"/><Relationship Id="rId5" Type="http://schemas.openxmlformats.org/officeDocument/2006/relationships/image" Target="../media/image13.svg"/><Relationship Id="rId10" Type="http://schemas.openxmlformats.org/officeDocument/2006/relationships/image" Target="../media/image36.png"/><Relationship Id="rId4" Type="http://schemas.openxmlformats.org/officeDocument/2006/relationships/image" Target="../media/image1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41.svg"/><Relationship Id="rId5" Type="http://schemas.openxmlformats.org/officeDocument/2006/relationships/image" Target="../media/image19.svg"/><Relationship Id="rId10" Type="http://schemas.openxmlformats.org/officeDocument/2006/relationships/image" Target="../media/image40.png"/><Relationship Id="rId4" Type="http://schemas.openxmlformats.org/officeDocument/2006/relationships/image" Target="../media/image18.png"/><Relationship Id="rId9" Type="http://schemas.openxmlformats.org/officeDocument/2006/relationships/image" Target="../media/image3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8.png"/><Relationship Id="rId3" Type="http://schemas.openxmlformats.org/officeDocument/2006/relationships/image" Target="../media/image34.png"/><Relationship Id="rId7" Type="http://schemas.openxmlformats.org/officeDocument/2006/relationships/image" Target="../media/image16.png"/><Relationship Id="rId12" Type="http://schemas.openxmlformats.org/officeDocument/2006/relationships/image" Target="../media/image3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36.png"/><Relationship Id="rId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35.svg"/><Relationship Id="rId9" Type="http://schemas.openxmlformats.org/officeDocument/2006/relationships/image" Target="../media/image6.png"/><Relationship Id="rId1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9.svg"/><Relationship Id="rId18" Type="http://schemas.openxmlformats.org/officeDocument/2006/relationships/image" Target="../media/image52.png"/><Relationship Id="rId3" Type="http://schemas.openxmlformats.org/officeDocument/2006/relationships/image" Target="../media/image43.svg"/><Relationship Id="rId7" Type="http://schemas.openxmlformats.org/officeDocument/2006/relationships/image" Target="../media/image17.svg"/><Relationship Id="rId12" Type="http://schemas.openxmlformats.org/officeDocument/2006/relationships/image" Target="../media/image48.png"/><Relationship Id="rId17" Type="http://schemas.openxmlformats.org/officeDocument/2006/relationships/image" Target="../media/image51.png"/><Relationship Id="rId2" Type="http://schemas.openxmlformats.org/officeDocument/2006/relationships/image" Target="../media/image42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9.svg"/><Relationship Id="rId5" Type="http://schemas.openxmlformats.org/officeDocument/2006/relationships/image" Target="../media/image45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53.png"/><Relationship Id="rId4" Type="http://schemas.openxmlformats.org/officeDocument/2006/relationships/image" Target="../media/image44.png"/><Relationship Id="rId9" Type="http://schemas.openxmlformats.org/officeDocument/2006/relationships/image" Target="../media/image47.sv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5.svg"/><Relationship Id="rId7" Type="http://schemas.openxmlformats.org/officeDocument/2006/relationships/image" Target="../media/image9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9.svg"/><Relationship Id="rId4" Type="http://schemas.openxmlformats.org/officeDocument/2006/relationships/image" Target="../media/image17.sv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7" Type="http://schemas.openxmlformats.org/officeDocument/2006/relationships/image" Target="../media/image6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9.svg"/><Relationship Id="rId4" Type="http://schemas.openxmlformats.org/officeDocument/2006/relationships/image" Target="../media/image17.sv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62.png"/><Relationship Id="rId5" Type="http://schemas.openxmlformats.org/officeDocument/2006/relationships/image" Target="../media/image18.png"/><Relationship Id="rId10" Type="http://schemas.openxmlformats.org/officeDocument/2006/relationships/image" Target="../media/image9.svg"/><Relationship Id="rId4" Type="http://schemas.openxmlformats.org/officeDocument/2006/relationships/image" Target="../media/image17.sv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8.png"/><Relationship Id="rId3" Type="http://schemas.openxmlformats.org/officeDocument/2006/relationships/image" Target="../media/image34.png"/><Relationship Id="rId7" Type="http://schemas.openxmlformats.org/officeDocument/2006/relationships/image" Target="../media/image16.png"/><Relationship Id="rId12" Type="http://schemas.openxmlformats.org/officeDocument/2006/relationships/image" Target="../media/image3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36.png"/><Relationship Id="rId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35.svg"/><Relationship Id="rId9" Type="http://schemas.openxmlformats.org/officeDocument/2006/relationships/image" Target="../media/image6.png"/><Relationship Id="rId1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96924" y="-40546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3" name="Group 3"/>
          <p:cNvGrpSpPr/>
          <p:nvPr/>
        </p:nvGrpSpPr>
        <p:grpSpPr>
          <a:xfrm>
            <a:off x="9554503" y="8947150"/>
            <a:ext cx="11712292" cy="6242648"/>
            <a:chOff x="0" y="0"/>
            <a:chExt cx="676659" cy="3606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6659" cy="360659"/>
            </a:xfrm>
            <a:custGeom>
              <a:avLst/>
              <a:gdLst/>
              <a:ahLst/>
              <a:cxnLst/>
              <a:rect l="l" t="t" r="r" b="b"/>
              <a:pathLst>
                <a:path w="676659" h="360659">
                  <a:moveTo>
                    <a:pt x="676659" y="180330"/>
                  </a:moveTo>
                  <a:lnTo>
                    <a:pt x="473459" y="360659"/>
                  </a:lnTo>
                  <a:lnTo>
                    <a:pt x="203200" y="360659"/>
                  </a:lnTo>
                  <a:lnTo>
                    <a:pt x="0" y="180330"/>
                  </a:lnTo>
                  <a:lnTo>
                    <a:pt x="203200" y="0"/>
                  </a:lnTo>
                  <a:lnTo>
                    <a:pt x="473459" y="0"/>
                  </a:lnTo>
                  <a:lnTo>
                    <a:pt x="676659" y="18033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14300" y="-47625"/>
              <a:ext cx="448059" cy="408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16166910" y="1151200"/>
            <a:ext cx="2270840" cy="899810"/>
          </a:xfrm>
          <a:custGeom>
            <a:avLst/>
            <a:gdLst/>
            <a:ahLst/>
            <a:cxnLst/>
            <a:rect l="l" t="t" r="r" b="b"/>
            <a:pathLst>
              <a:path w="2270840" h="899810">
                <a:moveTo>
                  <a:pt x="0" y="0"/>
                </a:moveTo>
                <a:lnTo>
                  <a:pt x="2270840" y="0"/>
                </a:lnTo>
                <a:lnTo>
                  <a:pt x="2270840" y="899811"/>
                </a:lnTo>
                <a:lnTo>
                  <a:pt x="0" y="8998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273" r="-2142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346006" y="6000750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5710" y="2303372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646769" y="9439275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543907" y="9838093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31171" y="6594656"/>
            <a:ext cx="6657825" cy="25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2659" b="1" dirty="0" err="1">
                <a:solidFill>
                  <a:srgbClr val="1D1A1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Réalisé</a:t>
            </a:r>
            <a:r>
              <a:rPr lang="en-US" sz="2659" b="1" dirty="0">
                <a:solidFill>
                  <a:srgbClr val="1D1A1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par: </a:t>
            </a:r>
          </a:p>
          <a:p>
            <a:pPr algn="l">
              <a:lnSpc>
                <a:spcPts val="2318"/>
              </a:lnSpc>
            </a:pPr>
            <a:r>
              <a:rPr lang="en-US" sz="2000" dirty="0">
                <a:solidFill>
                  <a:srgbClr val="1D1A1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        LE BOUTI HOUSSINE</a:t>
            </a:r>
          </a:p>
          <a:p>
            <a:pPr algn="l">
              <a:lnSpc>
                <a:spcPts val="2318"/>
              </a:lnSpc>
            </a:pPr>
            <a:r>
              <a:rPr lang="en-US" sz="2000" dirty="0">
                <a:solidFill>
                  <a:srgbClr val="1D1A1B"/>
                </a:solidFill>
                <a:latin typeface="Open Sans 1"/>
                <a:ea typeface="Open Sans 1"/>
                <a:cs typeface="Open Sans 1"/>
                <a:sym typeface="Open Sans 1"/>
              </a:rPr>
              <a:t>                  BEN-CHEIKH MUSTAPHA</a:t>
            </a:r>
          </a:p>
          <a:p>
            <a:pPr algn="l">
              <a:lnSpc>
                <a:spcPts val="2318"/>
              </a:lnSpc>
            </a:pPr>
            <a:endParaRPr lang="en-US" sz="2000" dirty="0">
              <a:solidFill>
                <a:srgbClr val="1D1A1B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3723"/>
              </a:lnSpc>
            </a:pPr>
            <a:r>
              <a:rPr lang="en-US" sz="2659" b="1" dirty="0" err="1">
                <a:solidFill>
                  <a:srgbClr val="1D1A1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Encadré</a:t>
            </a:r>
            <a:r>
              <a:rPr lang="en-US" sz="2659" b="1" dirty="0">
                <a:solidFill>
                  <a:srgbClr val="1D1A1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par : </a:t>
            </a:r>
          </a:p>
          <a:p>
            <a:pPr algn="l"/>
            <a:r>
              <a:rPr lang="en-US" sz="2659" b="1" dirty="0">
                <a:solidFill>
                  <a:srgbClr val="1D1A1B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1 Bold"/>
              </a:rPr>
              <a:t>            </a:t>
            </a:r>
            <a:r>
              <a:rPr lang="fr-FR" sz="2400" b="1" i="0" u="none" strike="noStrike" baseline="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Pr. Noura AHERRAHROU</a:t>
            </a:r>
            <a:endParaRPr lang="en-US" sz="2659" b="1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  <a:sym typeface="Open Sans 1 Bold"/>
            </a:endParaRPr>
          </a:p>
          <a:p>
            <a:pPr algn="l">
              <a:lnSpc>
                <a:spcPts val="2318"/>
              </a:lnSpc>
            </a:pPr>
            <a:r>
              <a:rPr lang="en-US" sz="1655" dirty="0">
                <a:solidFill>
                  <a:srgbClr val="1D1A1B"/>
                </a:solidFill>
                <a:latin typeface="Open Sans 1"/>
                <a:ea typeface="Open Sans 1"/>
                <a:cs typeface="Open Sans 1"/>
                <a:sym typeface="Open Sans 1"/>
              </a:rPr>
              <a:t>       </a:t>
            </a:r>
          </a:p>
        </p:txBody>
      </p:sp>
      <p:sp>
        <p:nvSpPr>
          <p:cNvPr id="12" name="Freeform 12"/>
          <p:cNvSpPr/>
          <p:nvPr/>
        </p:nvSpPr>
        <p:spPr>
          <a:xfrm>
            <a:off x="-2785432" y="9977430"/>
            <a:ext cx="11434272" cy="1293877"/>
          </a:xfrm>
          <a:custGeom>
            <a:avLst/>
            <a:gdLst/>
            <a:ahLst/>
            <a:cxnLst/>
            <a:rect l="l" t="t" r="r" b="b"/>
            <a:pathLst>
              <a:path w="11434272" h="1293877">
                <a:moveTo>
                  <a:pt x="0" y="0"/>
                </a:moveTo>
                <a:lnTo>
                  <a:pt x="11434272" y="0"/>
                </a:lnTo>
                <a:lnTo>
                  <a:pt x="11434272" y="1293877"/>
                </a:lnTo>
                <a:lnTo>
                  <a:pt x="0" y="12938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48325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50839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>
                <a:moveTo>
                  <a:pt x="0" y="0"/>
                </a:moveTo>
                <a:lnTo>
                  <a:pt x="1752990" y="0"/>
                </a:lnTo>
                <a:lnTo>
                  <a:pt x="1752990" y="1509762"/>
                </a:lnTo>
                <a:lnTo>
                  <a:pt x="0" y="15097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340971" y="-16666"/>
            <a:ext cx="11301259" cy="2090733"/>
          </a:xfrm>
          <a:custGeom>
            <a:avLst/>
            <a:gdLst/>
            <a:ahLst/>
            <a:cxnLst/>
            <a:rect l="l" t="t" r="r" b="b"/>
            <a:pathLst>
              <a:path w="11301259" h="2090733">
                <a:moveTo>
                  <a:pt x="0" y="0"/>
                </a:moveTo>
                <a:lnTo>
                  <a:pt x="11301258" y="0"/>
                </a:lnTo>
                <a:lnTo>
                  <a:pt x="11301258" y="2090732"/>
                </a:lnTo>
                <a:lnTo>
                  <a:pt x="0" y="209073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85710" y="2915049"/>
            <a:ext cx="10751427" cy="1597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4200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ÉTUDE ET ANALYSE PRÉDICTIVE DE LES EVOLUTION DES CAS DE COVID-19</a:t>
            </a:r>
          </a:p>
        </p:txBody>
      </p:sp>
      <p:sp>
        <p:nvSpPr>
          <p:cNvPr id="17" name="Freeform 42">
            <a:extLst>
              <a:ext uri="{FF2B5EF4-FFF2-40B4-BE49-F238E27FC236}">
                <a16:creationId xmlns:a16="http://schemas.microsoft.com/office/drawing/2014/main" id="{0AE103DE-DA59-CA0A-493F-7DA118F970AB}"/>
              </a:ext>
            </a:extLst>
          </p:cNvPr>
          <p:cNvSpPr/>
          <p:nvPr/>
        </p:nvSpPr>
        <p:spPr>
          <a:xfrm>
            <a:off x="10206948" y="1488560"/>
            <a:ext cx="8794783" cy="7377902"/>
          </a:xfrm>
          <a:custGeom>
            <a:avLst/>
            <a:gdLst/>
            <a:ahLst/>
            <a:cxnLst/>
            <a:rect l="l" t="t" r="r" b="b"/>
            <a:pathLst>
              <a:path w="8794783" h="7377902">
                <a:moveTo>
                  <a:pt x="0" y="0"/>
                </a:moveTo>
                <a:lnTo>
                  <a:pt x="8794784" y="0"/>
                </a:lnTo>
                <a:lnTo>
                  <a:pt x="8794784" y="7377902"/>
                </a:lnTo>
                <a:lnTo>
                  <a:pt x="0" y="737790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0782" b="-8421"/>
            </a:stretch>
          </a:blipFill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64053" y="-1477201"/>
            <a:ext cx="5390494" cy="2982376"/>
            <a:chOff x="0" y="0"/>
            <a:chExt cx="7187325" cy="3976501"/>
          </a:xfrm>
        </p:grpSpPr>
        <p:grpSp>
          <p:nvGrpSpPr>
            <p:cNvPr id="3" name="Group 3"/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5271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-549814" y="9915299"/>
            <a:ext cx="5321313" cy="2446670"/>
            <a:chOff x="0" y="0"/>
            <a:chExt cx="1223810" cy="5626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50358" y="9762097"/>
            <a:ext cx="14808942" cy="1198000"/>
            <a:chOff x="0" y="0"/>
            <a:chExt cx="7899698" cy="6390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99698" cy="639062"/>
            </a:xfrm>
            <a:custGeom>
              <a:avLst/>
              <a:gdLst/>
              <a:ahLst/>
              <a:cxnLst/>
              <a:rect l="l" t="t" r="r" b="b"/>
              <a:pathLst>
                <a:path w="7899698" h="639062">
                  <a:moveTo>
                    <a:pt x="7899698" y="319531"/>
                  </a:moveTo>
                  <a:lnTo>
                    <a:pt x="7696498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7696498" y="0"/>
                  </a:lnTo>
                  <a:lnTo>
                    <a:pt x="7899698" y="319531"/>
                  </a:lnTo>
                  <a:close/>
                </a:path>
              </a:pathLst>
            </a:custGeom>
            <a:solidFill>
              <a:srgbClr val="5271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300" y="-47625"/>
              <a:ext cx="7671098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-1086039" y="3863443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484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7043400" y="-184885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3"/>
                </a:lnTo>
                <a:lnTo>
                  <a:pt x="0" y="397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952724" y="10076674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2"/>
                </a:lnTo>
                <a:lnTo>
                  <a:pt x="0" y="397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7808289" y="6000750"/>
            <a:ext cx="991473" cy="677919"/>
          </a:xfrm>
          <a:custGeom>
            <a:avLst/>
            <a:gdLst/>
            <a:ahLst/>
            <a:cxnLst/>
            <a:rect l="l" t="t" r="r" b="b"/>
            <a:pathLst>
              <a:path w="991473" h="677919">
                <a:moveTo>
                  <a:pt x="0" y="0"/>
                </a:moveTo>
                <a:lnTo>
                  <a:pt x="991473" y="0"/>
                </a:lnTo>
                <a:lnTo>
                  <a:pt x="991473" y="677919"/>
                </a:lnTo>
                <a:lnTo>
                  <a:pt x="0" y="6779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399076" y="9978798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918797" y="3508998"/>
            <a:ext cx="2951376" cy="6311940"/>
          </a:xfrm>
          <a:custGeom>
            <a:avLst/>
            <a:gdLst/>
            <a:ahLst/>
            <a:cxnLst/>
            <a:rect l="l" t="t" r="r" b="b"/>
            <a:pathLst>
              <a:path w="2951376" h="6311940">
                <a:moveTo>
                  <a:pt x="0" y="0"/>
                </a:moveTo>
                <a:lnTo>
                  <a:pt x="2951376" y="0"/>
                </a:lnTo>
                <a:lnTo>
                  <a:pt x="2951376" y="6311940"/>
                </a:lnTo>
                <a:lnTo>
                  <a:pt x="0" y="63119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605800" y="5393244"/>
            <a:ext cx="3071937" cy="2128974"/>
          </a:xfrm>
          <a:custGeom>
            <a:avLst/>
            <a:gdLst/>
            <a:ahLst/>
            <a:cxnLst/>
            <a:rect l="l" t="t" r="r" b="b"/>
            <a:pathLst>
              <a:path w="3071937" h="2128974">
                <a:moveTo>
                  <a:pt x="0" y="0"/>
                </a:moveTo>
                <a:lnTo>
                  <a:pt x="3071937" y="0"/>
                </a:lnTo>
                <a:lnTo>
                  <a:pt x="3071937" y="2128974"/>
                </a:lnTo>
                <a:lnTo>
                  <a:pt x="0" y="2128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346423" y="3564255"/>
            <a:ext cx="3207219" cy="2128974"/>
          </a:xfrm>
          <a:custGeom>
            <a:avLst/>
            <a:gdLst/>
            <a:ahLst/>
            <a:cxnLst/>
            <a:rect l="l" t="t" r="r" b="b"/>
            <a:pathLst>
              <a:path w="3207219" h="2128974">
                <a:moveTo>
                  <a:pt x="0" y="0"/>
                </a:moveTo>
                <a:lnTo>
                  <a:pt x="3207219" y="0"/>
                </a:lnTo>
                <a:lnTo>
                  <a:pt x="3207219" y="2128974"/>
                </a:lnTo>
                <a:lnTo>
                  <a:pt x="0" y="2128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804698" y="1258218"/>
            <a:ext cx="2754000" cy="6264000"/>
          </a:xfrm>
          <a:custGeom>
            <a:avLst/>
            <a:gdLst/>
            <a:ahLst/>
            <a:cxnLst/>
            <a:rect l="l" t="t" r="r" b="b"/>
            <a:pathLst>
              <a:path w="2754000" h="6264000">
                <a:moveTo>
                  <a:pt x="0" y="0"/>
                </a:moveTo>
                <a:lnTo>
                  <a:pt x="2754000" y="0"/>
                </a:lnTo>
                <a:lnTo>
                  <a:pt x="2754000" y="6264000"/>
                </a:lnTo>
                <a:lnTo>
                  <a:pt x="0" y="6264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205231" y="5393244"/>
            <a:ext cx="3071942" cy="2128974"/>
          </a:xfrm>
          <a:custGeom>
            <a:avLst/>
            <a:gdLst/>
            <a:ahLst/>
            <a:cxnLst/>
            <a:rect l="l" t="t" r="r" b="b"/>
            <a:pathLst>
              <a:path w="3071942" h="2128974">
                <a:moveTo>
                  <a:pt x="0" y="0"/>
                </a:moveTo>
                <a:lnTo>
                  <a:pt x="3071941" y="0"/>
                </a:lnTo>
                <a:lnTo>
                  <a:pt x="3071941" y="2128974"/>
                </a:lnTo>
                <a:lnTo>
                  <a:pt x="0" y="212897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921883" y="3564255"/>
            <a:ext cx="3071944" cy="2128974"/>
          </a:xfrm>
          <a:custGeom>
            <a:avLst/>
            <a:gdLst/>
            <a:ahLst/>
            <a:cxnLst/>
            <a:rect l="l" t="t" r="r" b="b"/>
            <a:pathLst>
              <a:path w="3071944" h="2128974">
                <a:moveTo>
                  <a:pt x="0" y="0"/>
                </a:moveTo>
                <a:lnTo>
                  <a:pt x="3071945" y="0"/>
                </a:lnTo>
                <a:lnTo>
                  <a:pt x="3071945" y="2128974"/>
                </a:lnTo>
                <a:lnTo>
                  <a:pt x="0" y="212897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7409275" y="4363629"/>
            <a:ext cx="1173678" cy="1173678"/>
            <a:chOff x="0" y="0"/>
            <a:chExt cx="1564904" cy="15649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64894" cy="1564894"/>
            </a:xfrm>
            <a:custGeom>
              <a:avLst/>
              <a:gdLst/>
              <a:ahLst/>
              <a:cxnLst/>
              <a:rect l="l" t="t" r="r" b="b"/>
              <a:pathLst>
                <a:path w="1564894" h="1564894">
                  <a:moveTo>
                    <a:pt x="0" y="782447"/>
                  </a:moveTo>
                  <a:cubicBezTo>
                    <a:pt x="0" y="350266"/>
                    <a:pt x="350266" y="0"/>
                    <a:pt x="782447" y="0"/>
                  </a:cubicBezTo>
                  <a:cubicBezTo>
                    <a:pt x="1214628" y="0"/>
                    <a:pt x="1564894" y="350266"/>
                    <a:pt x="1564894" y="782447"/>
                  </a:cubicBezTo>
                  <a:cubicBezTo>
                    <a:pt x="1564894" y="1214628"/>
                    <a:pt x="1214628" y="1564894"/>
                    <a:pt x="782447" y="1564894"/>
                  </a:cubicBezTo>
                  <a:cubicBezTo>
                    <a:pt x="350266" y="1564894"/>
                    <a:pt x="0" y="1214628"/>
                    <a:pt x="0" y="782447"/>
                  </a:cubicBezTo>
                  <a:close/>
                </a:path>
              </a:pathLst>
            </a:custGeom>
            <a:solidFill>
              <a:srgbClr val="981438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1564904" cy="155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41849" y="4390218"/>
            <a:ext cx="1173678" cy="1173678"/>
            <a:chOff x="0" y="0"/>
            <a:chExt cx="1564904" cy="156490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64894" cy="1564894"/>
            </a:xfrm>
            <a:custGeom>
              <a:avLst/>
              <a:gdLst/>
              <a:ahLst/>
              <a:cxnLst/>
              <a:rect l="l" t="t" r="r" b="b"/>
              <a:pathLst>
                <a:path w="1564894" h="1564894">
                  <a:moveTo>
                    <a:pt x="0" y="782447"/>
                  </a:moveTo>
                  <a:cubicBezTo>
                    <a:pt x="0" y="350266"/>
                    <a:pt x="350266" y="0"/>
                    <a:pt x="782447" y="0"/>
                  </a:cubicBezTo>
                  <a:cubicBezTo>
                    <a:pt x="1214628" y="0"/>
                    <a:pt x="1564894" y="350266"/>
                    <a:pt x="1564894" y="782447"/>
                  </a:cubicBezTo>
                  <a:cubicBezTo>
                    <a:pt x="1564894" y="1214628"/>
                    <a:pt x="1214628" y="1564894"/>
                    <a:pt x="782447" y="1564894"/>
                  </a:cubicBezTo>
                  <a:cubicBezTo>
                    <a:pt x="350266" y="1564894"/>
                    <a:pt x="0" y="1214628"/>
                    <a:pt x="0" y="782447"/>
                  </a:cubicBezTo>
                  <a:close/>
                </a:path>
              </a:pathLst>
            </a:custGeom>
            <a:solidFill>
              <a:srgbClr val="328389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1564904" cy="155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935535" y="4286024"/>
            <a:ext cx="1173678" cy="1173678"/>
            <a:chOff x="0" y="0"/>
            <a:chExt cx="1564904" cy="156490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64894" cy="1564894"/>
            </a:xfrm>
            <a:custGeom>
              <a:avLst/>
              <a:gdLst/>
              <a:ahLst/>
              <a:cxnLst/>
              <a:rect l="l" t="t" r="r" b="b"/>
              <a:pathLst>
                <a:path w="1564894" h="1564894">
                  <a:moveTo>
                    <a:pt x="0" y="782447"/>
                  </a:moveTo>
                  <a:cubicBezTo>
                    <a:pt x="0" y="350266"/>
                    <a:pt x="350266" y="0"/>
                    <a:pt x="782447" y="0"/>
                  </a:cubicBezTo>
                  <a:cubicBezTo>
                    <a:pt x="1214628" y="0"/>
                    <a:pt x="1564894" y="350266"/>
                    <a:pt x="1564894" y="782447"/>
                  </a:cubicBezTo>
                  <a:cubicBezTo>
                    <a:pt x="1564894" y="1214628"/>
                    <a:pt x="1214628" y="1564894"/>
                    <a:pt x="782447" y="1564894"/>
                  </a:cubicBezTo>
                  <a:cubicBezTo>
                    <a:pt x="350266" y="1564894"/>
                    <a:pt x="0" y="1214628"/>
                    <a:pt x="0" y="782447"/>
                  </a:cubicBezTo>
                  <a:close/>
                </a:path>
              </a:pathLst>
            </a:custGeom>
            <a:solidFill>
              <a:srgbClr val="92971A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1564904" cy="155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555178" y="5693229"/>
            <a:ext cx="1173678" cy="1173678"/>
            <a:chOff x="0" y="0"/>
            <a:chExt cx="1564904" cy="156490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64894" cy="1564894"/>
            </a:xfrm>
            <a:custGeom>
              <a:avLst/>
              <a:gdLst/>
              <a:ahLst/>
              <a:cxnLst/>
              <a:rect l="l" t="t" r="r" b="b"/>
              <a:pathLst>
                <a:path w="1564894" h="1564894">
                  <a:moveTo>
                    <a:pt x="0" y="782447"/>
                  </a:moveTo>
                  <a:cubicBezTo>
                    <a:pt x="0" y="350266"/>
                    <a:pt x="350266" y="0"/>
                    <a:pt x="782447" y="0"/>
                  </a:cubicBezTo>
                  <a:cubicBezTo>
                    <a:pt x="1214628" y="0"/>
                    <a:pt x="1564894" y="350266"/>
                    <a:pt x="1564894" y="782447"/>
                  </a:cubicBezTo>
                  <a:cubicBezTo>
                    <a:pt x="1564894" y="1214628"/>
                    <a:pt x="1214628" y="1564894"/>
                    <a:pt x="782447" y="1564894"/>
                  </a:cubicBezTo>
                  <a:cubicBezTo>
                    <a:pt x="350266" y="1564894"/>
                    <a:pt x="0" y="1214628"/>
                    <a:pt x="0" y="782447"/>
                  </a:cubicBezTo>
                  <a:close/>
                </a:path>
              </a:pathLst>
            </a:custGeom>
            <a:solidFill>
              <a:srgbClr val="C98C03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1564904" cy="155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54379" y="5592870"/>
            <a:ext cx="1173678" cy="1173678"/>
            <a:chOff x="0" y="0"/>
            <a:chExt cx="1564904" cy="156490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64894" cy="1564894"/>
            </a:xfrm>
            <a:custGeom>
              <a:avLst/>
              <a:gdLst/>
              <a:ahLst/>
              <a:cxnLst/>
              <a:rect l="l" t="t" r="r" b="b"/>
              <a:pathLst>
                <a:path w="1564894" h="1564894">
                  <a:moveTo>
                    <a:pt x="0" y="782447"/>
                  </a:moveTo>
                  <a:cubicBezTo>
                    <a:pt x="0" y="350266"/>
                    <a:pt x="350266" y="0"/>
                    <a:pt x="782447" y="0"/>
                  </a:cubicBezTo>
                  <a:cubicBezTo>
                    <a:pt x="1214628" y="0"/>
                    <a:pt x="1564894" y="350266"/>
                    <a:pt x="1564894" y="782447"/>
                  </a:cubicBezTo>
                  <a:cubicBezTo>
                    <a:pt x="1564894" y="1214628"/>
                    <a:pt x="1214628" y="1564894"/>
                    <a:pt x="782447" y="1564894"/>
                  </a:cubicBezTo>
                  <a:cubicBezTo>
                    <a:pt x="350266" y="1564894"/>
                    <a:pt x="0" y="1214628"/>
                    <a:pt x="0" y="782447"/>
                  </a:cubicBezTo>
                  <a:close/>
                </a:path>
              </a:pathLst>
            </a:custGeom>
            <a:solidFill>
              <a:srgbClr val="042734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9525"/>
              <a:ext cx="1564904" cy="155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589420" y="5592870"/>
            <a:ext cx="1173678" cy="1173678"/>
            <a:chOff x="0" y="0"/>
            <a:chExt cx="1564904" cy="156490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64894" cy="1564894"/>
            </a:xfrm>
            <a:custGeom>
              <a:avLst/>
              <a:gdLst/>
              <a:ahLst/>
              <a:cxnLst/>
              <a:rect l="l" t="t" r="r" b="b"/>
              <a:pathLst>
                <a:path w="1564894" h="1564894">
                  <a:moveTo>
                    <a:pt x="0" y="782447"/>
                  </a:moveTo>
                  <a:cubicBezTo>
                    <a:pt x="0" y="350266"/>
                    <a:pt x="350266" y="0"/>
                    <a:pt x="782447" y="0"/>
                  </a:cubicBezTo>
                  <a:cubicBezTo>
                    <a:pt x="1214628" y="0"/>
                    <a:pt x="1564894" y="350266"/>
                    <a:pt x="1564894" y="782447"/>
                  </a:cubicBezTo>
                  <a:cubicBezTo>
                    <a:pt x="1564894" y="1214628"/>
                    <a:pt x="1214628" y="1564894"/>
                    <a:pt x="782447" y="1564894"/>
                  </a:cubicBezTo>
                  <a:cubicBezTo>
                    <a:pt x="350266" y="1564894"/>
                    <a:pt x="0" y="1214628"/>
                    <a:pt x="0" y="782447"/>
                  </a:cubicBezTo>
                  <a:close/>
                </a:path>
              </a:pathLst>
            </a:custGeom>
            <a:solidFill>
              <a:srgbClr val="005C5E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1564904" cy="1555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6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573656" y="2359977"/>
            <a:ext cx="3440308" cy="1204277"/>
            <a:chOff x="0" y="-767878"/>
            <a:chExt cx="4587077" cy="16057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17912" cy="837826"/>
            </a:xfrm>
            <a:custGeom>
              <a:avLst/>
              <a:gdLst/>
              <a:ahLst/>
              <a:cxnLst/>
              <a:rect l="l" t="t" r="r" b="b"/>
              <a:pathLst>
                <a:path w="4517912" h="837826">
                  <a:moveTo>
                    <a:pt x="0" y="0"/>
                  </a:moveTo>
                  <a:lnTo>
                    <a:pt x="4517912" y="0"/>
                  </a:lnTo>
                  <a:lnTo>
                    <a:pt x="4517912" y="837826"/>
                  </a:lnTo>
                  <a:lnTo>
                    <a:pt x="0" y="8378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165" y="-767878"/>
              <a:ext cx="4517912" cy="8378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latin typeface="Noto Sans Bold"/>
                  <a:ea typeface="Noto Sans Bold"/>
                  <a:cs typeface="Noto Sans Bold"/>
                  <a:sym typeface="Noto Sans Bold"/>
                </a:rPr>
                <a:t>Introduction et Objectif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565525" y="2125057"/>
            <a:ext cx="2988118" cy="1518003"/>
            <a:chOff x="-107051" y="-621001"/>
            <a:chExt cx="3984157" cy="202400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877106" cy="1403003"/>
            </a:xfrm>
            <a:custGeom>
              <a:avLst/>
              <a:gdLst/>
              <a:ahLst/>
              <a:cxnLst/>
              <a:rect l="l" t="t" r="r" b="b"/>
              <a:pathLst>
                <a:path w="3877106" h="1403003">
                  <a:moveTo>
                    <a:pt x="0" y="0"/>
                  </a:moveTo>
                  <a:lnTo>
                    <a:pt x="3877106" y="0"/>
                  </a:lnTo>
                  <a:lnTo>
                    <a:pt x="3877106" y="1403003"/>
                  </a:lnTo>
                  <a:lnTo>
                    <a:pt x="0" y="14030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-107051" y="-621001"/>
              <a:ext cx="3877106" cy="14030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00"/>
                </a:lnSpc>
              </a:pPr>
              <a:r>
                <a:rPr lang="fr-FR" sz="28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Traitement des Données</a:t>
              </a:r>
              <a:endParaRPr lang="en-US" sz="2800" b="1" dirty="0">
                <a:solidFill>
                  <a:srgbClr val="282F39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 Bold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855739" y="7580248"/>
            <a:ext cx="3140720" cy="1194247"/>
            <a:chOff x="-491389" y="-189327"/>
            <a:chExt cx="4187627" cy="1592330"/>
          </a:xfrm>
        </p:grpSpPr>
        <p:sp>
          <p:nvSpPr>
            <p:cNvPr id="51" name="Freeform 51"/>
            <p:cNvSpPr/>
            <p:nvPr/>
          </p:nvSpPr>
          <p:spPr>
            <a:xfrm>
              <a:off x="-491389" y="-189327"/>
              <a:ext cx="3696238" cy="1403003"/>
            </a:xfrm>
            <a:custGeom>
              <a:avLst/>
              <a:gdLst/>
              <a:ahLst/>
              <a:cxnLst/>
              <a:rect l="l" t="t" r="r" b="b"/>
              <a:pathLst>
                <a:path w="3696238" h="1403003">
                  <a:moveTo>
                    <a:pt x="0" y="0"/>
                  </a:moveTo>
                  <a:lnTo>
                    <a:pt x="3696238" y="0"/>
                  </a:lnTo>
                  <a:lnTo>
                    <a:pt x="3696238" y="1403003"/>
                  </a:lnTo>
                  <a:lnTo>
                    <a:pt x="0" y="14030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3696238" cy="14030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00"/>
                </a:lnSpc>
              </a:pPr>
              <a:r>
                <a:rPr lang="en-US" sz="3200" b="1" dirty="0" err="1">
                  <a:latin typeface="Open Sans 1 Bold" panose="020B0604020202020204" charset="0"/>
                  <a:ea typeface="Open Sans 1 Bold" panose="020B0604020202020204" charset="0"/>
                  <a:cs typeface="Open Sans 1 Bold" panose="020B0604020202020204" charset="0"/>
                  <a:sym typeface="Open Sans 1 Bold"/>
                </a:rPr>
                <a:t>Modélisation</a:t>
              </a:r>
              <a:r>
                <a:rPr lang="fr-FR" sz="32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et Prédiction</a:t>
              </a:r>
              <a:endParaRPr lang="en-US" sz="30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 Bold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64431" y="7759689"/>
            <a:ext cx="2613305" cy="600165"/>
            <a:chOff x="-1" y="0"/>
            <a:chExt cx="3484406" cy="8002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898298" cy="800220"/>
            </a:xfrm>
            <a:custGeom>
              <a:avLst/>
              <a:gdLst/>
              <a:ahLst/>
              <a:cxnLst/>
              <a:rect l="l" t="t" r="r" b="b"/>
              <a:pathLst>
                <a:path w="2898298" h="800220">
                  <a:moveTo>
                    <a:pt x="0" y="0"/>
                  </a:moveTo>
                  <a:lnTo>
                    <a:pt x="2898298" y="0"/>
                  </a:lnTo>
                  <a:lnTo>
                    <a:pt x="2898298" y="800220"/>
                  </a:lnTo>
                  <a:lnTo>
                    <a:pt x="0" y="80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-1" y="83352"/>
              <a:ext cx="3484406" cy="7168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latin typeface="Noto Sans Bold"/>
                  <a:ea typeface="Noto Sans Bold"/>
                  <a:cs typeface="Noto Sans Bold"/>
                  <a:sym typeface="Noto Sans Bold"/>
                </a:rPr>
                <a:t>Architecture du </a:t>
              </a:r>
              <a:r>
                <a:rPr lang="en-US" sz="3000" b="1" dirty="0" err="1">
                  <a:latin typeface="Noto Sans Bold"/>
                  <a:ea typeface="Noto Sans Bold"/>
                  <a:cs typeface="Noto Sans Bold"/>
                  <a:sym typeface="Noto Sans Bold"/>
                </a:rPr>
                <a:t>projet</a:t>
              </a:r>
              <a:endParaRPr lang="en-US" sz="3000" b="1" dirty="0"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096567" y="2590808"/>
            <a:ext cx="3199078" cy="1494873"/>
            <a:chOff x="0" y="0"/>
            <a:chExt cx="4265437" cy="199316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265437" cy="1993164"/>
            </a:xfrm>
            <a:custGeom>
              <a:avLst/>
              <a:gdLst/>
              <a:ahLst/>
              <a:cxnLst/>
              <a:rect l="l" t="t" r="r" b="b"/>
              <a:pathLst>
                <a:path w="4265437" h="1993164">
                  <a:moveTo>
                    <a:pt x="0" y="0"/>
                  </a:moveTo>
                  <a:lnTo>
                    <a:pt x="4265437" y="0"/>
                  </a:lnTo>
                  <a:lnTo>
                    <a:pt x="4265437" y="1993164"/>
                  </a:lnTo>
                  <a:lnTo>
                    <a:pt x="0" y="19931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4265437" cy="20026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240"/>
                </a:lnSpc>
              </a:pPr>
              <a:r>
                <a:rPr lang="fr-FR" sz="2800" b="1" dirty="0"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Démonstration</a:t>
              </a:r>
              <a:endParaRPr lang="en-US" sz="27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Noto Sans Bold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819956" y="7655568"/>
            <a:ext cx="2951377" cy="1052252"/>
            <a:chOff x="0" y="0"/>
            <a:chExt cx="3935170" cy="140300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935170" cy="1403003"/>
            </a:xfrm>
            <a:custGeom>
              <a:avLst/>
              <a:gdLst/>
              <a:ahLst/>
              <a:cxnLst/>
              <a:rect l="l" t="t" r="r" b="b"/>
              <a:pathLst>
                <a:path w="3935170" h="1403003">
                  <a:moveTo>
                    <a:pt x="0" y="0"/>
                  </a:moveTo>
                  <a:lnTo>
                    <a:pt x="3935170" y="0"/>
                  </a:lnTo>
                  <a:lnTo>
                    <a:pt x="3935170" y="1403003"/>
                  </a:lnTo>
                  <a:lnTo>
                    <a:pt x="0" y="14030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3935170" cy="14030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282F3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Conclusion </a:t>
              </a:r>
            </a:p>
            <a:p>
              <a:pPr algn="ctr">
                <a:lnSpc>
                  <a:spcPts val="3600"/>
                </a:lnSpc>
              </a:pPr>
              <a:endParaRPr lang="en-US" sz="3000" b="1" dirty="0">
                <a:solidFill>
                  <a:srgbClr val="282F39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7035800" y="138431"/>
            <a:ext cx="3505200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PLAN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7259300" y="9374650"/>
            <a:ext cx="892575" cy="892575"/>
            <a:chOff x="0" y="0"/>
            <a:chExt cx="902234" cy="90223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306113" y="6253799"/>
            <a:ext cx="7610964" cy="5057823"/>
            <a:chOff x="0" y="0"/>
            <a:chExt cx="846733" cy="5626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6733" cy="562692"/>
            </a:xfrm>
            <a:custGeom>
              <a:avLst/>
              <a:gdLst/>
              <a:ahLst/>
              <a:cxnLst/>
              <a:rect l="l" t="t" r="r" b="b"/>
              <a:pathLst>
                <a:path w="846733" h="562692">
                  <a:moveTo>
                    <a:pt x="846733" y="281346"/>
                  </a:moveTo>
                  <a:lnTo>
                    <a:pt x="64353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643533" y="0"/>
                  </a:lnTo>
                  <a:lnTo>
                    <a:pt x="846733" y="281346"/>
                  </a:lnTo>
                  <a:close/>
                </a:path>
              </a:pathLst>
            </a:custGeom>
            <a:solidFill>
              <a:srgbClr val="7B95F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4300" y="-47625"/>
              <a:ext cx="618133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564053" y="-1477201"/>
            <a:ext cx="5390494" cy="2982376"/>
            <a:chOff x="0" y="0"/>
            <a:chExt cx="7187325" cy="3976501"/>
          </a:xfrm>
        </p:grpSpPr>
        <p:grpSp>
          <p:nvGrpSpPr>
            <p:cNvPr id="9" name="Group 9"/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7B95F9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16900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1128"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3484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28700" y="528080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449810" y="6858000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919895" y="9853727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04800" y="337883"/>
            <a:ext cx="15181394" cy="241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4"/>
              </a:lnSpc>
            </a:pPr>
            <a:r>
              <a:rPr lang="en-US" sz="13100" b="1" dirty="0">
                <a:solidFill>
                  <a:srgbClr val="004AA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Introduction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6597112" y="8983462"/>
            <a:ext cx="892575" cy="892575"/>
            <a:chOff x="0" y="0"/>
            <a:chExt cx="902234" cy="9022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3</a:t>
              </a:r>
            </a:p>
          </p:txBody>
        </p: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81BE1775-5784-F644-4A29-BF72F8958C5D}"/>
              </a:ext>
            </a:extLst>
          </p:cNvPr>
          <p:cNvSpPr txBox="1"/>
          <p:nvPr/>
        </p:nvSpPr>
        <p:spPr>
          <a:xfrm>
            <a:off x="4038600" y="2822295"/>
            <a:ext cx="120576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/>
              <a:t>Ce projet vise à analyser et prédire l’évolution de la pandémie COVID-19 à l’aide de données épidémiologiques et d’outils technologiques </a:t>
            </a:r>
            <a:r>
              <a:rPr lang="fr-FR" sz="3600" dirty="0" err="1"/>
              <a:t>modernes.Nous</a:t>
            </a:r>
            <a:r>
              <a:rPr lang="fr-FR" sz="3600" dirty="0"/>
              <a:t> utilisons une base de données NoSQL (Cassandra) pour stocker efficacement les données, un moteur Machine Learning pour les prédictions, et un </a:t>
            </a:r>
            <a:r>
              <a:rPr lang="fr-FR" sz="3600" dirty="0" err="1"/>
              <a:t>dashboard</a:t>
            </a:r>
            <a:r>
              <a:rPr lang="fr-FR" sz="3600" dirty="0"/>
              <a:t> interactif pour visualiser les résultats.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08572" y="-12961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64053" y="-1477201"/>
            <a:ext cx="5390494" cy="2982376"/>
            <a:chOff x="0" y="0"/>
            <a:chExt cx="7187325" cy="3976501"/>
          </a:xfrm>
        </p:grpSpPr>
        <p:grpSp>
          <p:nvGrpSpPr>
            <p:cNvPr id="4" name="Group 4"/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5271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-673113" y="9251081"/>
            <a:ext cx="5321313" cy="2446670"/>
            <a:chOff x="0" y="0"/>
            <a:chExt cx="1223810" cy="5626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73113" y="8675100"/>
            <a:ext cx="2673102" cy="1151961"/>
            <a:chOff x="0" y="0"/>
            <a:chExt cx="1482931" cy="6390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2931" cy="639062"/>
            </a:xfrm>
            <a:custGeom>
              <a:avLst/>
              <a:gdLst/>
              <a:ahLst/>
              <a:cxnLst/>
              <a:rect l="l" t="t" r="r" b="b"/>
              <a:pathLst>
                <a:path w="1482931" h="639062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4AA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4300" y="-47625"/>
              <a:ext cx="1254331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450358" y="9762097"/>
            <a:ext cx="14808942" cy="1198000"/>
            <a:chOff x="0" y="0"/>
            <a:chExt cx="7899698" cy="6390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99698" cy="639062"/>
            </a:xfrm>
            <a:custGeom>
              <a:avLst/>
              <a:gdLst/>
              <a:ahLst/>
              <a:cxnLst/>
              <a:rect l="l" t="t" r="r" b="b"/>
              <a:pathLst>
                <a:path w="7899698" h="639062">
                  <a:moveTo>
                    <a:pt x="7899698" y="319531"/>
                  </a:moveTo>
                  <a:lnTo>
                    <a:pt x="7696498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7696498" y="0"/>
                  </a:lnTo>
                  <a:lnTo>
                    <a:pt x="7899698" y="319531"/>
                  </a:lnTo>
                  <a:close/>
                </a:path>
              </a:pathLst>
            </a:custGeom>
            <a:solidFill>
              <a:srgbClr val="5271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300" y="-47625"/>
              <a:ext cx="7671098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7043400" y="-184885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3"/>
                </a:lnTo>
                <a:lnTo>
                  <a:pt x="0" y="397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952724" y="10076674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2"/>
                </a:lnTo>
                <a:lnTo>
                  <a:pt x="0" y="3977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399076" y="9978798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014245" y="3656995"/>
            <a:ext cx="9178999" cy="3360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3200" dirty="0"/>
              <a:t>L’objectif principal de ce projet est d’</a:t>
            </a:r>
            <a:r>
              <a:rPr lang="fr-FR" sz="3200" b="1" dirty="0"/>
              <a:t>analyser les données des patients atteints de la COVID-19</a:t>
            </a:r>
            <a:r>
              <a:rPr lang="fr-FR" sz="3200" dirty="0"/>
              <a:t> afin de :</a:t>
            </a:r>
          </a:p>
          <a:p>
            <a:r>
              <a:rPr lang="fr-FR" sz="3200" dirty="0"/>
              <a:t>1-Suivre l’évolution de la maladie,</a:t>
            </a:r>
          </a:p>
          <a:p>
            <a:r>
              <a:rPr lang="fr-FR" sz="3200" dirty="0"/>
              <a:t>2-Identifier des solutions potentielles,</a:t>
            </a:r>
          </a:p>
          <a:p>
            <a:r>
              <a:rPr lang="fr-FR" sz="3200" dirty="0"/>
              <a:t>3-Et faire des </a:t>
            </a:r>
            <a:r>
              <a:rPr lang="fr-FR" sz="3200" b="1" dirty="0"/>
              <a:t>prédictions</a:t>
            </a:r>
            <a:r>
              <a:rPr lang="fr-FR" sz="3200" dirty="0"/>
              <a:t> pour améliorer la prise en charge de l’épidémie.</a:t>
            </a:r>
          </a:p>
          <a:p>
            <a:pPr algn="just">
              <a:lnSpc>
                <a:spcPts val="3355"/>
              </a:lnSpc>
            </a:pPr>
            <a:endParaRPr lang="en-US" sz="2396" b="1" dirty="0">
              <a:solidFill>
                <a:srgbClr val="1D1A1B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023206" y="1476600"/>
            <a:ext cx="10361097" cy="1832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37"/>
              </a:lnSpc>
            </a:pPr>
            <a:r>
              <a:rPr lang="en-US" sz="8800" b="1" dirty="0">
                <a:solidFill>
                  <a:srgbClr val="004AA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Objectif du </a:t>
            </a:r>
            <a:r>
              <a:rPr lang="en-US" sz="8800" b="1" dirty="0" err="1">
                <a:solidFill>
                  <a:srgbClr val="004AA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projet</a:t>
            </a:r>
            <a:endParaRPr lang="en-US" sz="8800" b="1" dirty="0">
              <a:solidFill>
                <a:srgbClr val="004AAD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algn="ctr">
              <a:lnSpc>
                <a:spcPts val="7337"/>
              </a:lnSpc>
            </a:pPr>
            <a:endParaRPr lang="en-US" sz="5870" b="1" dirty="0">
              <a:solidFill>
                <a:srgbClr val="004AAD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5048427" y="8340263"/>
            <a:ext cx="3155754" cy="334837"/>
            <a:chOff x="0" y="0"/>
            <a:chExt cx="4207672" cy="4464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07637" cy="446405"/>
            </a:xfrm>
            <a:custGeom>
              <a:avLst/>
              <a:gdLst/>
              <a:ahLst/>
              <a:cxnLst/>
              <a:rect l="l" t="t" r="r" b="b"/>
              <a:pathLst>
                <a:path w="4207637" h="446405">
                  <a:moveTo>
                    <a:pt x="0" y="223266"/>
                  </a:moveTo>
                  <a:cubicBezTo>
                    <a:pt x="0" y="99949"/>
                    <a:pt x="941959" y="0"/>
                    <a:pt x="2103882" y="0"/>
                  </a:cubicBezTo>
                  <a:cubicBezTo>
                    <a:pt x="3265805" y="0"/>
                    <a:pt x="4207637" y="99949"/>
                    <a:pt x="4207637" y="223266"/>
                  </a:cubicBezTo>
                  <a:cubicBezTo>
                    <a:pt x="4207637" y="346583"/>
                    <a:pt x="3265805" y="446405"/>
                    <a:pt x="2103882" y="446405"/>
                  </a:cubicBezTo>
                  <a:cubicBezTo>
                    <a:pt x="941959" y="446405"/>
                    <a:pt x="0" y="346456"/>
                    <a:pt x="0" y="223266"/>
                  </a:cubicBezTo>
                  <a:close/>
                </a:path>
              </a:pathLst>
            </a:custGeom>
            <a:solidFill>
              <a:srgbClr val="000000">
                <a:alpha val="784"/>
              </a:srgbClr>
            </a:solidFill>
          </p:spPr>
        </p:sp>
      </p:grpSp>
      <p:grpSp>
        <p:nvGrpSpPr>
          <p:cNvPr id="26" name="Group 26"/>
          <p:cNvGrpSpPr/>
          <p:nvPr/>
        </p:nvGrpSpPr>
        <p:grpSpPr>
          <a:xfrm rot="-1365716">
            <a:off x="16992589" y="7044608"/>
            <a:ext cx="271844" cy="1515071"/>
            <a:chOff x="0" y="0"/>
            <a:chExt cx="362458" cy="202009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2458" cy="2020189"/>
            </a:xfrm>
            <a:custGeom>
              <a:avLst/>
              <a:gdLst/>
              <a:ahLst/>
              <a:cxnLst/>
              <a:rect l="l" t="t" r="r" b="b"/>
              <a:pathLst>
                <a:path w="362458" h="2020189">
                  <a:moveTo>
                    <a:pt x="0" y="60452"/>
                  </a:moveTo>
                  <a:cubicBezTo>
                    <a:pt x="0" y="27051"/>
                    <a:pt x="27051" y="0"/>
                    <a:pt x="60452" y="0"/>
                  </a:cubicBezTo>
                  <a:lnTo>
                    <a:pt x="302006" y="0"/>
                  </a:lnTo>
                  <a:cubicBezTo>
                    <a:pt x="335407" y="0"/>
                    <a:pt x="362458" y="27051"/>
                    <a:pt x="362458" y="60452"/>
                  </a:cubicBezTo>
                  <a:lnTo>
                    <a:pt x="362458" y="1959737"/>
                  </a:lnTo>
                  <a:cubicBezTo>
                    <a:pt x="362458" y="1993138"/>
                    <a:pt x="335407" y="2020189"/>
                    <a:pt x="302006" y="2020189"/>
                  </a:cubicBezTo>
                  <a:lnTo>
                    <a:pt x="60452" y="2020189"/>
                  </a:lnTo>
                  <a:cubicBezTo>
                    <a:pt x="27051" y="2020189"/>
                    <a:pt x="0" y="1993138"/>
                    <a:pt x="0" y="1959737"/>
                  </a:cubicBezTo>
                  <a:close/>
                </a:path>
              </a:pathLst>
            </a:custGeom>
            <a:solidFill>
              <a:srgbClr val="FCB414"/>
            </a:solidFill>
          </p:spPr>
        </p:sp>
      </p:grpSp>
      <p:grpSp>
        <p:nvGrpSpPr>
          <p:cNvPr id="28" name="Group 28"/>
          <p:cNvGrpSpPr/>
          <p:nvPr/>
        </p:nvGrpSpPr>
        <p:grpSpPr>
          <a:xfrm rot="1307746">
            <a:off x="15859750" y="7567268"/>
            <a:ext cx="228838" cy="925991"/>
            <a:chOff x="0" y="0"/>
            <a:chExt cx="305118" cy="12346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5054" cy="1234567"/>
            </a:xfrm>
            <a:custGeom>
              <a:avLst/>
              <a:gdLst/>
              <a:ahLst/>
              <a:cxnLst/>
              <a:rect l="l" t="t" r="r" b="b"/>
              <a:pathLst>
                <a:path w="305054" h="1234567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254254" y="0"/>
                  </a:lnTo>
                  <a:cubicBezTo>
                    <a:pt x="282321" y="0"/>
                    <a:pt x="305054" y="22733"/>
                    <a:pt x="305054" y="50800"/>
                  </a:cubicBezTo>
                  <a:lnTo>
                    <a:pt x="305054" y="1183767"/>
                  </a:lnTo>
                  <a:cubicBezTo>
                    <a:pt x="305054" y="1211834"/>
                    <a:pt x="282321" y="1234567"/>
                    <a:pt x="254254" y="1234567"/>
                  </a:cubicBezTo>
                  <a:lnTo>
                    <a:pt x="50800" y="1234567"/>
                  </a:lnTo>
                  <a:cubicBezTo>
                    <a:pt x="22733" y="1234567"/>
                    <a:pt x="0" y="1211834"/>
                    <a:pt x="0" y="1183767"/>
                  </a:cubicBezTo>
                  <a:close/>
                </a:path>
              </a:pathLst>
            </a:custGeom>
            <a:solidFill>
              <a:srgbClr val="FCB414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14656725" y="3208587"/>
            <a:ext cx="3066327" cy="4555870"/>
          </a:xfrm>
          <a:custGeom>
            <a:avLst/>
            <a:gdLst/>
            <a:ahLst/>
            <a:cxnLst/>
            <a:rect l="l" t="t" r="r" b="b"/>
            <a:pathLst>
              <a:path w="3066327" h="4555870">
                <a:moveTo>
                  <a:pt x="0" y="0"/>
                </a:moveTo>
                <a:lnTo>
                  <a:pt x="3066327" y="0"/>
                </a:lnTo>
                <a:lnTo>
                  <a:pt x="3066327" y="4555871"/>
                </a:lnTo>
                <a:lnTo>
                  <a:pt x="0" y="45558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1" name="AutoShape 31"/>
          <p:cNvSpPr/>
          <p:nvPr/>
        </p:nvSpPr>
        <p:spPr>
          <a:xfrm>
            <a:off x="12092605" y="5130143"/>
            <a:ext cx="3703990" cy="230976"/>
          </a:xfrm>
          <a:prstGeom prst="line">
            <a:avLst/>
          </a:prstGeom>
          <a:ln w="28575" cap="rnd">
            <a:solidFill>
              <a:srgbClr val="CB1B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 rot="5514004">
            <a:off x="15821789" y="5133989"/>
            <a:ext cx="312518" cy="553998"/>
            <a:chOff x="0" y="0"/>
            <a:chExt cx="416690" cy="7386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16687" cy="738632"/>
            </a:xfrm>
            <a:custGeom>
              <a:avLst/>
              <a:gdLst/>
              <a:ahLst/>
              <a:cxnLst/>
              <a:rect l="l" t="t" r="r" b="b"/>
              <a:pathLst>
                <a:path w="416687" h="738632">
                  <a:moveTo>
                    <a:pt x="0" y="738632"/>
                  </a:moveTo>
                  <a:lnTo>
                    <a:pt x="208407" y="0"/>
                  </a:lnTo>
                  <a:lnTo>
                    <a:pt x="416687" y="738632"/>
                  </a:lnTo>
                  <a:close/>
                </a:path>
              </a:pathLst>
            </a:custGeom>
            <a:solidFill>
              <a:srgbClr val="CB1B4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504623" y="8300442"/>
            <a:ext cx="1069821" cy="127008"/>
            <a:chOff x="0" y="0"/>
            <a:chExt cx="1426428" cy="1693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26464" cy="169418"/>
            </a:xfrm>
            <a:custGeom>
              <a:avLst/>
              <a:gdLst/>
              <a:ahLst/>
              <a:cxnLst/>
              <a:rect l="l" t="t" r="r" b="b"/>
              <a:pathLst>
                <a:path w="1426464" h="169418">
                  <a:moveTo>
                    <a:pt x="0" y="84709"/>
                  </a:moveTo>
                  <a:cubicBezTo>
                    <a:pt x="0" y="37846"/>
                    <a:pt x="319278" y="0"/>
                    <a:pt x="713232" y="0"/>
                  </a:cubicBezTo>
                  <a:cubicBezTo>
                    <a:pt x="1107186" y="0"/>
                    <a:pt x="1426464" y="37846"/>
                    <a:pt x="1426464" y="84709"/>
                  </a:cubicBezTo>
                  <a:cubicBezTo>
                    <a:pt x="1426464" y="131572"/>
                    <a:pt x="1107186" y="169418"/>
                    <a:pt x="713232" y="169418"/>
                  </a:cubicBezTo>
                  <a:cubicBezTo>
                    <a:pt x="319278" y="169418"/>
                    <a:pt x="0" y="131445"/>
                    <a:pt x="0" y="84709"/>
                  </a:cubicBezTo>
                  <a:close/>
                </a:path>
              </a:pathLst>
            </a:custGeom>
            <a:solidFill>
              <a:srgbClr val="000000">
                <a:alpha val="3922"/>
              </a:srgbClr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219123" y="8243292"/>
            <a:ext cx="1069821" cy="127008"/>
            <a:chOff x="0" y="0"/>
            <a:chExt cx="1426428" cy="16934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26464" cy="169418"/>
            </a:xfrm>
            <a:custGeom>
              <a:avLst/>
              <a:gdLst/>
              <a:ahLst/>
              <a:cxnLst/>
              <a:rect l="l" t="t" r="r" b="b"/>
              <a:pathLst>
                <a:path w="1426464" h="169418">
                  <a:moveTo>
                    <a:pt x="0" y="84709"/>
                  </a:moveTo>
                  <a:cubicBezTo>
                    <a:pt x="0" y="37846"/>
                    <a:pt x="319278" y="0"/>
                    <a:pt x="713232" y="0"/>
                  </a:cubicBezTo>
                  <a:cubicBezTo>
                    <a:pt x="1107186" y="0"/>
                    <a:pt x="1426464" y="37846"/>
                    <a:pt x="1426464" y="84709"/>
                  </a:cubicBezTo>
                  <a:cubicBezTo>
                    <a:pt x="1426464" y="131572"/>
                    <a:pt x="1107186" y="169418"/>
                    <a:pt x="713232" y="169418"/>
                  </a:cubicBezTo>
                  <a:cubicBezTo>
                    <a:pt x="319278" y="169418"/>
                    <a:pt x="0" y="131445"/>
                    <a:pt x="0" y="84709"/>
                  </a:cubicBezTo>
                  <a:close/>
                </a:path>
              </a:pathLst>
            </a:custGeom>
            <a:solidFill>
              <a:srgbClr val="000000">
                <a:alpha val="3922"/>
              </a:srgbClr>
            </a:solidFill>
          </p:spPr>
        </p:sp>
      </p:grpSp>
      <p:sp>
        <p:nvSpPr>
          <p:cNvPr id="38" name="Freeform 38"/>
          <p:cNvSpPr/>
          <p:nvPr/>
        </p:nvSpPr>
        <p:spPr>
          <a:xfrm>
            <a:off x="-89293" y="2604818"/>
            <a:ext cx="3509622" cy="5407634"/>
          </a:xfrm>
          <a:custGeom>
            <a:avLst/>
            <a:gdLst/>
            <a:ahLst/>
            <a:cxnLst/>
            <a:rect l="l" t="t" r="r" b="b"/>
            <a:pathLst>
              <a:path w="3509622" h="5407634">
                <a:moveTo>
                  <a:pt x="0" y="0"/>
                </a:moveTo>
                <a:lnTo>
                  <a:pt x="3509622" y="0"/>
                </a:lnTo>
                <a:lnTo>
                  <a:pt x="3509622" y="5407634"/>
                </a:lnTo>
                <a:lnTo>
                  <a:pt x="0" y="54076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9" name="AutoShape 39"/>
          <p:cNvSpPr/>
          <p:nvPr/>
        </p:nvSpPr>
        <p:spPr>
          <a:xfrm flipV="1">
            <a:off x="1859550" y="3986162"/>
            <a:ext cx="2719144" cy="1177176"/>
          </a:xfrm>
          <a:prstGeom prst="line">
            <a:avLst/>
          </a:prstGeom>
          <a:ln w="28575" cap="rnd">
            <a:solidFill>
              <a:srgbClr val="CB1B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 rot="4079480">
            <a:off x="4349697" y="3747261"/>
            <a:ext cx="312518" cy="553998"/>
            <a:chOff x="0" y="0"/>
            <a:chExt cx="416690" cy="7386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16687" cy="738632"/>
            </a:xfrm>
            <a:custGeom>
              <a:avLst/>
              <a:gdLst/>
              <a:ahLst/>
              <a:cxnLst/>
              <a:rect l="l" t="t" r="r" b="b"/>
              <a:pathLst>
                <a:path w="416687" h="738632">
                  <a:moveTo>
                    <a:pt x="0" y="738632"/>
                  </a:moveTo>
                  <a:lnTo>
                    <a:pt x="208407" y="0"/>
                  </a:lnTo>
                  <a:lnTo>
                    <a:pt x="416687" y="738632"/>
                  </a:lnTo>
                  <a:close/>
                </a:path>
              </a:pathLst>
            </a:custGeom>
            <a:solidFill>
              <a:srgbClr val="CB1B4A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259300" y="9380774"/>
            <a:ext cx="892575" cy="892575"/>
            <a:chOff x="0" y="0"/>
            <a:chExt cx="902234" cy="90223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7141018" y="-4823897"/>
            <a:ext cx="13476808" cy="9647794"/>
            <a:chOff x="0" y="0"/>
            <a:chExt cx="786013" cy="5626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6013" cy="562692"/>
            </a:xfrm>
            <a:custGeom>
              <a:avLst/>
              <a:gdLst/>
              <a:ahLst/>
              <a:cxnLst/>
              <a:rect l="l" t="t" r="r" b="b"/>
              <a:pathLst>
                <a:path w="786013" h="562692">
                  <a:moveTo>
                    <a:pt x="786013" y="281346"/>
                  </a:moveTo>
                  <a:lnTo>
                    <a:pt x="58281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582813" y="0"/>
                  </a:lnTo>
                  <a:lnTo>
                    <a:pt x="786013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14300" y="-47625"/>
              <a:ext cx="557413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306113" y="6253799"/>
            <a:ext cx="7610964" cy="5057823"/>
            <a:chOff x="0" y="0"/>
            <a:chExt cx="846733" cy="5626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6733" cy="562692"/>
            </a:xfrm>
            <a:custGeom>
              <a:avLst/>
              <a:gdLst/>
              <a:ahLst/>
              <a:cxnLst/>
              <a:rect l="l" t="t" r="r" b="b"/>
              <a:pathLst>
                <a:path w="846733" h="562692">
                  <a:moveTo>
                    <a:pt x="846733" y="281346"/>
                  </a:moveTo>
                  <a:lnTo>
                    <a:pt x="64353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643533" y="0"/>
                  </a:lnTo>
                  <a:lnTo>
                    <a:pt x="846733" y="281346"/>
                  </a:lnTo>
                  <a:close/>
                </a:path>
              </a:pathLst>
            </a:custGeom>
            <a:solidFill>
              <a:srgbClr val="7B95F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14300" y="-47625"/>
              <a:ext cx="618133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564053" y="-1477201"/>
            <a:ext cx="5390494" cy="2982376"/>
            <a:chOff x="0" y="0"/>
            <a:chExt cx="7187325" cy="3976501"/>
          </a:xfrm>
        </p:grpSpPr>
        <p:grpSp>
          <p:nvGrpSpPr>
            <p:cNvPr id="10" name="Group 10"/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7B95F9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8216900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61128"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3484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28700" y="528080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449810" y="6858000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7919895" y="9853727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343400" y="2588578"/>
            <a:ext cx="13944600" cy="411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60"/>
              </a:lnSpc>
            </a:pPr>
            <a:r>
              <a:rPr lang="en-US" sz="13100" b="1" dirty="0">
                <a:solidFill>
                  <a:srgbClr val="004AA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Architecture du </a:t>
            </a:r>
            <a:r>
              <a:rPr lang="en-US" sz="13100" b="1" dirty="0" err="1">
                <a:solidFill>
                  <a:srgbClr val="004AA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projet</a:t>
            </a:r>
            <a:endParaRPr lang="en-US" sz="13100" b="1" dirty="0">
              <a:solidFill>
                <a:srgbClr val="004AAD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6366725" y="9085831"/>
            <a:ext cx="892575" cy="892575"/>
            <a:chOff x="0" y="0"/>
            <a:chExt cx="902234" cy="9022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3">
            <a:extLst>
              <a:ext uri="{FF2B5EF4-FFF2-40B4-BE49-F238E27FC236}">
                <a16:creationId xmlns:a16="http://schemas.microsoft.com/office/drawing/2014/main" id="{A8601116-2A03-95AF-F057-61F29C195F85}"/>
              </a:ext>
            </a:extLst>
          </p:cNvPr>
          <p:cNvSpPr/>
          <p:nvPr/>
        </p:nvSpPr>
        <p:spPr>
          <a:xfrm>
            <a:off x="10917670" y="2927164"/>
            <a:ext cx="714081" cy="714081"/>
          </a:xfrm>
          <a:custGeom>
            <a:avLst/>
            <a:gdLst/>
            <a:ahLst/>
            <a:cxnLst/>
            <a:rect l="l" t="t" r="r" b="b"/>
            <a:pathLst>
              <a:path w="714081" h="714081">
                <a:moveTo>
                  <a:pt x="0" y="0"/>
                </a:moveTo>
                <a:lnTo>
                  <a:pt x="714081" y="0"/>
                </a:lnTo>
                <a:lnTo>
                  <a:pt x="714081" y="714082"/>
                </a:lnTo>
                <a:lnTo>
                  <a:pt x="0" y="714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 rot="-10800000">
            <a:off x="919209" y="3200551"/>
            <a:ext cx="16449582" cy="41124"/>
          </a:xfrm>
          <a:custGeom>
            <a:avLst/>
            <a:gdLst/>
            <a:ahLst/>
            <a:cxnLst/>
            <a:rect l="l" t="t" r="r" b="b"/>
            <a:pathLst>
              <a:path w="16449582" h="41124">
                <a:moveTo>
                  <a:pt x="0" y="0"/>
                </a:moveTo>
                <a:lnTo>
                  <a:pt x="16449582" y="0"/>
                </a:lnTo>
                <a:lnTo>
                  <a:pt x="16449582" y="41124"/>
                </a:lnTo>
                <a:lnTo>
                  <a:pt x="0" y="41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2079919" y="2884634"/>
            <a:ext cx="714081" cy="714081"/>
          </a:xfrm>
          <a:custGeom>
            <a:avLst/>
            <a:gdLst/>
            <a:ahLst/>
            <a:cxnLst/>
            <a:rect l="l" t="t" r="r" b="b"/>
            <a:pathLst>
              <a:path w="714081" h="714081">
                <a:moveTo>
                  <a:pt x="0" y="0"/>
                </a:moveTo>
                <a:lnTo>
                  <a:pt x="714081" y="0"/>
                </a:lnTo>
                <a:lnTo>
                  <a:pt x="714081" y="714082"/>
                </a:lnTo>
                <a:lnTo>
                  <a:pt x="0" y="714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125393" y="2884634"/>
            <a:ext cx="737214" cy="737214"/>
          </a:xfrm>
          <a:custGeom>
            <a:avLst/>
            <a:gdLst/>
            <a:ahLst/>
            <a:cxnLst/>
            <a:rect l="l" t="t" r="r" b="b"/>
            <a:pathLst>
              <a:path w="737214" h="737214">
                <a:moveTo>
                  <a:pt x="0" y="0"/>
                </a:moveTo>
                <a:lnTo>
                  <a:pt x="737214" y="0"/>
                </a:lnTo>
                <a:lnTo>
                  <a:pt x="737214" y="737215"/>
                </a:lnTo>
                <a:lnTo>
                  <a:pt x="0" y="737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154139" y="2964874"/>
            <a:ext cx="501593" cy="50159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AFB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48646" y="3032456"/>
            <a:ext cx="490708" cy="49070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AFB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4183347" y="-1362592"/>
            <a:ext cx="5119583" cy="2446670"/>
            <a:chOff x="0" y="0"/>
            <a:chExt cx="1177416" cy="5626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7416" cy="562692"/>
            </a:xfrm>
            <a:custGeom>
              <a:avLst/>
              <a:gdLst/>
              <a:ahLst/>
              <a:cxnLst/>
              <a:rect l="l" t="t" r="r" b="b"/>
              <a:pathLst>
                <a:path w="1177416" h="562692">
                  <a:moveTo>
                    <a:pt x="1177416" y="281346"/>
                  </a:moveTo>
                  <a:lnTo>
                    <a:pt x="974216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974216" y="0"/>
                  </a:lnTo>
                  <a:lnTo>
                    <a:pt x="1177416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-47625"/>
              <a:ext cx="948816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1533067" y="-624938"/>
            <a:ext cx="5726233" cy="1198000"/>
            <a:chOff x="0" y="0"/>
            <a:chExt cx="3054608" cy="6390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54608" cy="639062"/>
            </a:xfrm>
            <a:custGeom>
              <a:avLst/>
              <a:gdLst/>
              <a:ahLst/>
              <a:cxnLst/>
              <a:rect l="l" t="t" r="r" b="b"/>
              <a:pathLst>
                <a:path w="3054608" h="639062">
                  <a:moveTo>
                    <a:pt x="3054608" y="319531"/>
                  </a:moveTo>
                  <a:lnTo>
                    <a:pt x="2851408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2851408" y="0"/>
                  </a:lnTo>
                  <a:lnTo>
                    <a:pt x="3054608" y="319531"/>
                  </a:lnTo>
                  <a:close/>
                </a:path>
              </a:pathLst>
            </a:custGeom>
            <a:solidFill>
              <a:srgbClr val="5271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300" y="-47625"/>
              <a:ext cx="2826008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673113" y="9251081"/>
            <a:ext cx="8799130" cy="2446670"/>
            <a:chOff x="0" y="0"/>
            <a:chExt cx="2023648" cy="5626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23648" cy="562692"/>
            </a:xfrm>
            <a:custGeom>
              <a:avLst/>
              <a:gdLst/>
              <a:ahLst/>
              <a:cxnLst/>
              <a:rect l="l" t="t" r="r" b="b"/>
              <a:pathLst>
                <a:path w="2023648" h="562692">
                  <a:moveTo>
                    <a:pt x="2023648" y="281346"/>
                  </a:moveTo>
                  <a:lnTo>
                    <a:pt x="1820448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820448" y="0"/>
                  </a:lnTo>
                  <a:lnTo>
                    <a:pt x="2023648" y="281346"/>
                  </a:ln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14300" y="-47625"/>
              <a:ext cx="1795048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673113" y="8675100"/>
            <a:ext cx="2673102" cy="1151961"/>
            <a:chOff x="0" y="0"/>
            <a:chExt cx="1482931" cy="6390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2931" cy="639062"/>
            </a:xfrm>
            <a:custGeom>
              <a:avLst/>
              <a:gdLst/>
              <a:ahLst/>
              <a:cxnLst/>
              <a:rect l="l" t="t" r="r" b="b"/>
              <a:pathLst>
                <a:path w="1482931" h="639062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4AA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4300" y="-47625"/>
              <a:ext cx="1254331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3484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936887" y="178564"/>
            <a:ext cx="1336551" cy="905513"/>
          </a:xfrm>
          <a:custGeom>
            <a:avLst/>
            <a:gdLst/>
            <a:ahLst/>
            <a:cxnLst/>
            <a:rect l="l" t="t" r="r" b="b"/>
            <a:pathLst>
              <a:path w="1336551" h="905513">
                <a:moveTo>
                  <a:pt x="0" y="0"/>
                </a:moveTo>
                <a:lnTo>
                  <a:pt x="1336551" y="0"/>
                </a:lnTo>
                <a:lnTo>
                  <a:pt x="1336551" y="905514"/>
                </a:lnTo>
                <a:lnTo>
                  <a:pt x="0" y="9055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754326" y="-3419992"/>
            <a:ext cx="2180720" cy="4504070"/>
          </a:xfrm>
          <a:custGeom>
            <a:avLst/>
            <a:gdLst/>
            <a:ahLst/>
            <a:cxnLst/>
            <a:rect l="l" t="t" r="r" b="b"/>
            <a:pathLst>
              <a:path w="2180720" h="4504070">
                <a:moveTo>
                  <a:pt x="0" y="0"/>
                </a:moveTo>
                <a:lnTo>
                  <a:pt x="2180721" y="0"/>
                </a:lnTo>
                <a:lnTo>
                  <a:pt x="2180721" y="4504070"/>
                </a:lnTo>
                <a:lnTo>
                  <a:pt x="0" y="45040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145339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561128"/>
            </a:stretch>
          </a:blipFill>
        </p:spPr>
      </p:sp>
      <p:sp>
        <p:nvSpPr>
          <p:cNvPr id="27" name="Freeform 27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197600" y="2907767"/>
            <a:ext cx="714081" cy="714081"/>
          </a:xfrm>
          <a:custGeom>
            <a:avLst/>
            <a:gdLst/>
            <a:ahLst/>
            <a:cxnLst/>
            <a:rect l="l" t="t" r="r" b="b"/>
            <a:pathLst>
              <a:path w="714081" h="714081">
                <a:moveTo>
                  <a:pt x="0" y="0"/>
                </a:moveTo>
                <a:lnTo>
                  <a:pt x="714081" y="0"/>
                </a:lnTo>
                <a:lnTo>
                  <a:pt x="714081" y="714082"/>
                </a:lnTo>
                <a:lnTo>
                  <a:pt x="0" y="714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6303844" y="2990879"/>
            <a:ext cx="501593" cy="501593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AFB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016355" y="3006452"/>
            <a:ext cx="516712" cy="516712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0AFB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9296400" y="4932826"/>
            <a:ext cx="4060226" cy="2291603"/>
          </a:xfrm>
          <a:custGeom>
            <a:avLst/>
            <a:gdLst/>
            <a:ahLst/>
            <a:cxnLst/>
            <a:rect l="l" t="t" r="r" b="b"/>
            <a:pathLst>
              <a:path w="4060226" h="2291603">
                <a:moveTo>
                  <a:pt x="0" y="0"/>
                </a:moveTo>
                <a:lnTo>
                  <a:pt x="4060226" y="0"/>
                </a:lnTo>
                <a:lnTo>
                  <a:pt x="4060226" y="2291603"/>
                </a:lnTo>
                <a:lnTo>
                  <a:pt x="0" y="229160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19209" y="831345"/>
            <a:ext cx="9226130" cy="193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5"/>
              </a:lnSpc>
            </a:pPr>
            <a:r>
              <a:rPr lang="en-US" sz="6156" b="1" dirty="0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Techniques </a:t>
            </a:r>
            <a:r>
              <a:rPr lang="en-US" sz="6156" b="1" dirty="0" err="1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utilisés</a:t>
            </a:r>
            <a:endParaRPr lang="en-US" sz="6156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algn="l">
              <a:lnSpc>
                <a:spcPts val="7695"/>
              </a:lnSpc>
            </a:pPr>
            <a:endParaRPr lang="en-US" sz="6156" b="1" dirty="0">
              <a:solidFill>
                <a:srgbClr val="1D1A1B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710753" y="4016514"/>
            <a:ext cx="1696045" cy="62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1"/>
              </a:lnSpc>
              <a:spcBef>
                <a:spcPct val="0"/>
              </a:spcBef>
            </a:pPr>
            <a:r>
              <a:rPr lang="en-US" sz="3686" b="1" dirty="0">
                <a:solidFill>
                  <a:srgbClr val="1D1A1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Flask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3817" y="3946126"/>
            <a:ext cx="2326284" cy="610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2"/>
              </a:lnSpc>
              <a:spcBef>
                <a:spcPct val="0"/>
              </a:spcBef>
            </a:pPr>
            <a:r>
              <a:rPr lang="en-US" sz="3616" b="1" dirty="0" err="1">
                <a:solidFill>
                  <a:srgbClr val="1D1A1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cassndra</a:t>
            </a:r>
            <a:endParaRPr lang="en-US" sz="3616" b="1" dirty="0">
              <a:solidFill>
                <a:srgbClr val="1D1A1B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724082" y="3900185"/>
            <a:ext cx="2728020" cy="6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8"/>
              </a:lnSpc>
              <a:spcBef>
                <a:spcPct val="0"/>
              </a:spcBef>
            </a:pPr>
            <a:r>
              <a:rPr lang="en-US" sz="3627" b="1">
                <a:solidFill>
                  <a:srgbClr val="1D1A1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Scikit-learn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487844" y="3924601"/>
            <a:ext cx="2384127" cy="61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 err="1">
                <a:solidFill>
                  <a:srgbClr val="1D1A1B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Streamlit</a:t>
            </a:r>
            <a:endParaRPr lang="en-US" sz="3599" b="1" dirty="0">
              <a:solidFill>
                <a:srgbClr val="1D1A1B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476215" y="8983462"/>
            <a:ext cx="892575" cy="892575"/>
            <a:chOff x="0" y="0"/>
            <a:chExt cx="902234" cy="90223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6</a:t>
              </a:r>
            </a:p>
          </p:txBody>
        </p:sp>
      </p:grpSp>
      <p:sp>
        <p:nvSpPr>
          <p:cNvPr id="47" name="AutoShape 2" descr="What is Flask?">
            <a:extLst>
              <a:ext uri="{FF2B5EF4-FFF2-40B4-BE49-F238E27FC236}">
                <a16:creationId xmlns:a16="http://schemas.microsoft.com/office/drawing/2014/main" id="{FEEE98D4-736B-A697-6DC4-9ECAA3ACAF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8" name="AutoShape 4" descr="What is Flask?">
            <a:extLst>
              <a:ext uri="{FF2B5EF4-FFF2-40B4-BE49-F238E27FC236}">
                <a16:creationId xmlns:a16="http://schemas.microsoft.com/office/drawing/2014/main" id="{D97C966D-5B11-48AC-F2F9-E75126624E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AC4F6119-B2FD-81E3-A3AB-BE0E0049B19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25744" y="4781205"/>
            <a:ext cx="2381250" cy="1956686"/>
          </a:xfrm>
          <a:prstGeom prst="rect">
            <a:avLst/>
          </a:prstGeom>
        </p:spPr>
      </p:pic>
      <p:pic>
        <p:nvPicPr>
          <p:cNvPr id="51" name="Picture 2">
            <a:extLst>
              <a:ext uri="{FF2B5EF4-FFF2-40B4-BE49-F238E27FC236}">
                <a16:creationId xmlns:a16="http://schemas.microsoft.com/office/drawing/2014/main" id="{BE546FDE-D0FC-6C98-1B5E-468562E04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541" y="4973838"/>
            <a:ext cx="238125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reamlit Releases Version 1.0, the Fastest Way to Build">
            <a:extLst>
              <a:ext uri="{FF2B5EF4-FFF2-40B4-BE49-F238E27FC236}">
                <a16:creationId xmlns:a16="http://schemas.microsoft.com/office/drawing/2014/main" id="{769E3FA3-9307-E39A-A9E5-189F29DE7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7666" y="4982977"/>
            <a:ext cx="4143375" cy="2424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8119" y="244784"/>
            <a:ext cx="6000992" cy="1380228"/>
          </a:xfrm>
          <a:custGeom>
            <a:avLst/>
            <a:gdLst/>
            <a:ahLst/>
            <a:cxnLst/>
            <a:rect l="l" t="t" r="r" b="b"/>
            <a:pathLst>
              <a:path w="6000992" h="1380228">
                <a:moveTo>
                  <a:pt x="0" y="0"/>
                </a:moveTo>
                <a:lnTo>
                  <a:pt x="6000992" y="0"/>
                </a:lnTo>
                <a:lnTo>
                  <a:pt x="6000992" y="1380229"/>
                </a:lnTo>
                <a:lnTo>
                  <a:pt x="0" y="1380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648117" y="446983"/>
            <a:ext cx="1935448" cy="672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9"/>
              </a:lnSpc>
              <a:spcBef>
                <a:spcPct val="0"/>
              </a:spcBef>
            </a:pPr>
            <a:r>
              <a:rPr lang="en-US" sz="3914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2786067" y="9653063"/>
            <a:ext cx="5321313" cy="2446670"/>
            <a:chOff x="0" y="0"/>
            <a:chExt cx="1223810" cy="5626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703913" y="8437644"/>
            <a:ext cx="2673102" cy="1151961"/>
            <a:chOff x="0" y="0"/>
            <a:chExt cx="1482931" cy="6390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82931" cy="639062"/>
            </a:xfrm>
            <a:custGeom>
              <a:avLst/>
              <a:gdLst/>
              <a:ahLst/>
              <a:cxnLst/>
              <a:rect l="l" t="t" r="r" b="b"/>
              <a:pathLst>
                <a:path w="1482931" h="639062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4AA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4300" y="-47625"/>
              <a:ext cx="1254331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855015" y="10051986"/>
            <a:ext cx="14394840" cy="1164500"/>
            <a:chOff x="0" y="0"/>
            <a:chExt cx="7899698" cy="6390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99698" cy="639062"/>
            </a:xfrm>
            <a:custGeom>
              <a:avLst/>
              <a:gdLst/>
              <a:ahLst/>
              <a:cxnLst/>
              <a:rect l="l" t="t" r="r" b="b"/>
              <a:pathLst>
                <a:path w="7899698" h="639062">
                  <a:moveTo>
                    <a:pt x="7899698" y="319531"/>
                  </a:moveTo>
                  <a:lnTo>
                    <a:pt x="7696498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7696498" y="0"/>
                  </a:lnTo>
                  <a:lnTo>
                    <a:pt x="7899698" y="319531"/>
                  </a:lnTo>
                  <a:close/>
                </a:path>
              </a:pathLst>
            </a:custGeom>
            <a:solidFill>
              <a:srgbClr val="5271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4300" y="-47625"/>
              <a:ext cx="7671098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69495" y="10071643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3"/>
                </a:lnTo>
                <a:lnTo>
                  <a:pt x="0" y="397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399076" y="10129679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5125930" y="-1903902"/>
            <a:ext cx="5390494" cy="2982376"/>
            <a:chOff x="0" y="0"/>
            <a:chExt cx="7187325" cy="3976501"/>
          </a:xfrm>
        </p:grpSpPr>
        <p:grpSp>
          <p:nvGrpSpPr>
            <p:cNvPr id="17" name="Group 17"/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5271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sp>
        <p:nvSpPr>
          <p:cNvPr id="23" name="Freeform 23"/>
          <p:cNvSpPr/>
          <p:nvPr/>
        </p:nvSpPr>
        <p:spPr>
          <a:xfrm>
            <a:off x="17043400" y="-184885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3"/>
                </a:lnTo>
                <a:lnTo>
                  <a:pt x="0" y="397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717361" y="489273"/>
            <a:ext cx="6197600" cy="563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9"/>
              </a:lnSpc>
              <a:spcBef>
                <a:spcPct val="0"/>
              </a:spcBef>
            </a:pPr>
            <a:r>
              <a:rPr lang="en-US" sz="3321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Schéma</a:t>
            </a:r>
            <a:r>
              <a:rPr lang="en-US" sz="3321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3321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globale</a:t>
            </a:r>
            <a:endParaRPr lang="en-US" sz="3321" b="1" dirty="0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7249856" y="9377939"/>
            <a:ext cx="892575" cy="892575"/>
            <a:chOff x="0" y="0"/>
            <a:chExt cx="902234" cy="9022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7</a:t>
              </a:r>
            </a:p>
          </p:txBody>
        </p:sp>
      </p:grpSp>
      <p:pic>
        <p:nvPicPr>
          <p:cNvPr id="29" name="Image 28">
            <a:extLst>
              <a:ext uri="{FF2B5EF4-FFF2-40B4-BE49-F238E27FC236}">
                <a16:creationId xmlns:a16="http://schemas.microsoft.com/office/drawing/2014/main" id="{555DBDA3-8BB9-20DE-64AB-70660A8038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040" y="1668403"/>
            <a:ext cx="14737884" cy="515744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E654EE6C-94AD-F69B-3BCC-AA8C1D28F7D1}"/>
              </a:ext>
            </a:extLst>
          </p:cNvPr>
          <p:cNvSpPr txBox="1"/>
          <p:nvPr/>
        </p:nvSpPr>
        <p:spPr>
          <a:xfrm>
            <a:off x="2038251" y="7702983"/>
            <a:ext cx="71057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800" b="1" dirty="0"/>
              <a:t>Cassandra</a:t>
            </a:r>
            <a:r>
              <a:rPr lang="fr-FR" sz="2800" dirty="0"/>
              <a:t> : stockage rapide, structuré par pays et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b="1" dirty="0"/>
              <a:t>API Flask</a:t>
            </a:r>
            <a:r>
              <a:rPr lang="fr-FR" sz="2800" dirty="0"/>
              <a:t> : communication entre base de données, moteur ML et interface.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A0F7163-991B-AE48-0A1F-95628A92791A}"/>
              </a:ext>
            </a:extLst>
          </p:cNvPr>
          <p:cNvSpPr txBox="1"/>
          <p:nvPr/>
        </p:nvSpPr>
        <p:spPr>
          <a:xfrm>
            <a:off x="9533973" y="7693511"/>
            <a:ext cx="86084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800" b="1" dirty="0"/>
              <a:t>Moteur ML</a:t>
            </a:r>
            <a:r>
              <a:rPr lang="fr-FR" sz="2800" dirty="0"/>
              <a:t> : génère des prédictions et calcule les tendances.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b="1" dirty="0" err="1"/>
              <a:t>Streamlit</a:t>
            </a:r>
            <a:r>
              <a:rPr lang="fr-FR" sz="2800" dirty="0"/>
              <a:t> : affiche graphiques, filtres, résultats en temps réel</a:t>
            </a:r>
            <a:r>
              <a:rPr lang="fr-F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63C0-E4A5-BC66-63D2-4DD940E2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B72B0F-999D-1E1A-E2F2-2B8E31A7006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6C26B29-6EBF-8683-8946-04BAC67AC173}"/>
              </a:ext>
            </a:extLst>
          </p:cNvPr>
          <p:cNvGrpSpPr/>
          <p:nvPr/>
        </p:nvGrpSpPr>
        <p:grpSpPr>
          <a:xfrm>
            <a:off x="14564053" y="-1477201"/>
            <a:ext cx="5390494" cy="2982376"/>
            <a:chOff x="0" y="0"/>
            <a:chExt cx="7187325" cy="3976501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ED62EAF-A38F-D9CF-FEBE-E137A7C9FD6C}"/>
                </a:ext>
              </a:extLst>
            </p:cNvPr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7CA24F0-F91E-33A5-EC72-1BAA47EC53E3}"/>
                  </a:ext>
                </a:extLst>
              </p:cNvPr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F754DC2-13DA-3E25-4635-3AFB723FD362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CECAB69-94CE-A56A-3054-07C5DB137F4A}"/>
                </a:ext>
              </a:extLst>
            </p:cNvPr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2633BF6-DFFB-BE46-1EC2-493424A94DAB}"/>
                  </a:ext>
                </a:extLst>
              </p:cNvPr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5271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04E7D8A-9C5C-84C6-4F56-D00F320E1805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67110B9-9EC2-50C7-8B4D-FEF7CDD43CB1}"/>
              </a:ext>
            </a:extLst>
          </p:cNvPr>
          <p:cNvGrpSpPr/>
          <p:nvPr/>
        </p:nvGrpSpPr>
        <p:grpSpPr>
          <a:xfrm>
            <a:off x="-673113" y="9251081"/>
            <a:ext cx="5321313" cy="2446670"/>
            <a:chOff x="0" y="0"/>
            <a:chExt cx="1223810" cy="56269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CCBEAF2-EA0D-42D4-85CC-8F21F4BD471F}"/>
                </a:ext>
              </a:extLst>
            </p:cNvPr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672C5C3-DF6E-644E-B685-6EC2E2A23019}"/>
                </a:ext>
              </a:extLst>
            </p:cNvPr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DB7242A-7D83-06A0-9511-40BAECC54059}"/>
              </a:ext>
            </a:extLst>
          </p:cNvPr>
          <p:cNvGrpSpPr/>
          <p:nvPr/>
        </p:nvGrpSpPr>
        <p:grpSpPr>
          <a:xfrm>
            <a:off x="-673113" y="8675100"/>
            <a:ext cx="2673102" cy="1151961"/>
            <a:chOff x="0" y="0"/>
            <a:chExt cx="1482931" cy="639062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5802D81-0BC7-F27D-CDA7-9AC1E230F314}"/>
                </a:ext>
              </a:extLst>
            </p:cNvPr>
            <p:cNvSpPr/>
            <p:nvPr/>
          </p:nvSpPr>
          <p:spPr>
            <a:xfrm>
              <a:off x="0" y="0"/>
              <a:ext cx="1482931" cy="639062"/>
            </a:xfrm>
            <a:custGeom>
              <a:avLst/>
              <a:gdLst/>
              <a:ahLst/>
              <a:cxnLst/>
              <a:rect l="l" t="t" r="r" b="b"/>
              <a:pathLst>
                <a:path w="1482931" h="639062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4AA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550E892-8D30-B115-9418-39550B5C4296}"/>
                </a:ext>
              </a:extLst>
            </p:cNvPr>
            <p:cNvSpPr txBox="1"/>
            <p:nvPr/>
          </p:nvSpPr>
          <p:spPr>
            <a:xfrm>
              <a:off x="114300" y="-47625"/>
              <a:ext cx="1254331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6623039-6855-FBDF-651A-1C22DB7C8F8D}"/>
              </a:ext>
            </a:extLst>
          </p:cNvPr>
          <p:cNvGrpSpPr/>
          <p:nvPr/>
        </p:nvGrpSpPr>
        <p:grpSpPr>
          <a:xfrm>
            <a:off x="2450358" y="9762097"/>
            <a:ext cx="14808942" cy="1198000"/>
            <a:chOff x="0" y="0"/>
            <a:chExt cx="7899698" cy="639062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587E2D-696A-38E9-DF13-0F7F9AFB4E3C}"/>
                </a:ext>
              </a:extLst>
            </p:cNvPr>
            <p:cNvSpPr/>
            <p:nvPr/>
          </p:nvSpPr>
          <p:spPr>
            <a:xfrm>
              <a:off x="0" y="0"/>
              <a:ext cx="7899698" cy="639062"/>
            </a:xfrm>
            <a:custGeom>
              <a:avLst/>
              <a:gdLst/>
              <a:ahLst/>
              <a:cxnLst/>
              <a:rect l="l" t="t" r="r" b="b"/>
              <a:pathLst>
                <a:path w="7899698" h="639062">
                  <a:moveTo>
                    <a:pt x="7899698" y="319531"/>
                  </a:moveTo>
                  <a:lnTo>
                    <a:pt x="7696498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7696498" y="0"/>
                  </a:lnTo>
                  <a:lnTo>
                    <a:pt x="7899698" y="319531"/>
                  </a:lnTo>
                  <a:close/>
                </a:path>
              </a:pathLst>
            </a:custGeom>
            <a:solidFill>
              <a:srgbClr val="5271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01C8468-4499-D383-C1D1-52CCDA1EA557}"/>
                </a:ext>
              </a:extLst>
            </p:cNvPr>
            <p:cNvSpPr txBox="1"/>
            <p:nvPr/>
          </p:nvSpPr>
          <p:spPr>
            <a:xfrm>
              <a:off x="114300" y="-47625"/>
              <a:ext cx="7671098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Freeform 19">
            <a:extLst>
              <a:ext uri="{FF2B5EF4-FFF2-40B4-BE49-F238E27FC236}">
                <a16:creationId xmlns:a16="http://schemas.microsoft.com/office/drawing/2014/main" id="{1C646755-D39E-AAD5-2A3B-3EAABDFE45A4}"/>
              </a:ext>
            </a:extLst>
          </p:cNvPr>
          <p:cNvSpPr/>
          <p:nvPr/>
        </p:nvSpPr>
        <p:spPr>
          <a:xfrm rot="-5400000">
            <a:off x="-1086039" y="3863443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484"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A63B256E-2965-CEC0-3329-C7599D83A329}"/>
              </a:ext>
            </a:extLst>
          </p:cNvPr>
          <p:cNvSpPr/>
          <p:nvPr/>
        </p:nvSpPr>
        <p:spPr>
          <a:xfrm>
            <a:off x="17043400" y="-184885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3"/>
                </a:lnTo>
                <a:lnTo>
                  <a:pt x="0" y="397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A6AAE122-4219-D329-6AF1-0F6218EF544C}"/>
              </a:ext>
            </a:extLst>
          </p:cNvPr>
          <p:cNvSpPr/>
          <p:nvPr/>
        </p:nvSpPr>
        <p:spPr>
          <a:xfrm>
            <a:off x="2952724" y="10076674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2"/>
                </a:lnTo>
                <a:lnTo>
                  <a:pt x="0" y="3977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EFB2D26D-FBAF-CA79-D3FF-231431BC245E}"/>
              </a:ext>
            </a:extLst>
          </p:cNvPr>
          <p:cNvSpPr/>
          <p:nvPr/>
        </p:nvSpPr>
        <p:spPr>
          <a:xfrm>
            <a:off x="17808289" y="6000750"/>
            <a:ext cx="991473" cy="677919"/>
          </a:xfrm>
          <a:custGeom>
            <a:avLst/>
            <a:gdLst/>
            <a:ahLst/>
            <a:cxnLst/>
            <a:rect l="l" t="t" r="r" b="b"/>
            <a:pathLst>
              <a:path w="991473" h="677919">
                <a:moveTo>
                  <a:pt x="0" y="0"/>
                </a:moveTo>
                <a:lnTo>
                  <a:pt x="991473" y="0"/>
                </a:lnTo>
                <a:lnTo>
                  <a:pt x="991473" y="677919"/>
                </a:lnTo>
                <a:lnTo>
                  <a:pt x="0" y="6779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134E99B-6511-3EF0-BA2E-8C0CD454D556}"/>
              </a:ext>
            </a:extLst>
          </p:cNvPr>
          <p:cNvSpPr/>
          <p:nvPr/>
        </p:nvSpPr>
        <p:spPr>
          <a:xfrm>
            <a:off x="11399076" y="9978798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E7DEF10D-70EF-6CD8-A663-46B93E0925AF}"/>
              </a:ext>
            </a:extLst>
          </p:cNvPr>
          <p:cNvSpPr/>
          <p:nvPr/>
        </p:nvSpPr>
        <p:spPr>
          <a:xfrm>
            <a:off x="13138183" y="6339710"/>
            <a:ext cx="2851740" cy="1886816"/>
          </a:xfrm>
          <a:custGeom>
            <a:avLst/>
            <a:gdLst/>
            <a:ahLst/>
            <a:cxnLst/>
            <a:rect l="l" t="t" r="r" b="b"/>
            <a:pathLst>
              <a:path w="3802320" h="2515754">
                <a:moveTo>
                  <a:pt x="0" y="0"/>
                </a:moveTo>
                <a:lnTo>
                  <a:pt x="3802320" y="0"/>
                </a:lnTo>
                <a:lnTo>
                  <a:pt x="3802320" y="2515754"/>
                </a:lnTo>
                <a:lnTo>
                  <a:pt x="0" y="25157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B50A088E-8506-B744-F4F0-A75A2434B41D}"/>
              </a:ext>
            </a:extLst>
          </p:cNvPr>
          <p:cNvSpPr/>
          <p:nvPr/>
        </p:nvSpPr>
        <p:spPr>
          <a:xfrm>
            <a:off x="1152229" y="6211669"/>
            <a:ext cx="2851740" cy="1315316"/>
          </a:xfrm>
          <a:custGeom>
            <a:avLst/>
            <a:gdLst/>
            <a:ahLst/>
            <a:cxnLst/>
            <a:rect l="l" t="t" r="r" b="b"/>
            <a:pathLst>
              <a:path w="3802320" h="1753754">
                <a:moveTo>
                  <a:pt x="0" y="0"/>
                </a:moveTo>
                <a:lnTo>
                  <a:pt x="3802320" y="0"/>
                </a:lnTo>
                <a:lnTo>
                  <a:pt x="3802320" y="1753754"/>
                </a:lnTo>
                <a:lnTo>
                  <a:pt x="0" y="17537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270646FD-F40E-54A3-6F1D-15AD796621C4}"/>
              </a:ext>
            </a:extLst>
          </p:cNvPr>
          <p:cNvGrpSpPr/>
          <p:nvPr/>
        </p:nvGrpSpPr>
        <p:grpSpPr>
          <a:xfrm>
            <a:off x="-6388211" y="-5535870"/>
            <a:ext cx="10870713" cy="10119133"/>
            <a:chOff x="0" y="0"/>
            <a:chExt cx="604485" cy="562692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CA0F05F2-1BD7-5672-3B9C-00C30E10CBD3}"/>
                </a:ext>
              </a:extLst>
            </p:cNvPr>
            <p:cNvSpPr/>
            <p:nvPr/>
          </p:nvSpPr>
          <p:spPr>
            <a:xfrm>
              <a:off x="0" y="0"/>
              <a:ext cx="604485" cy="562692"/>
            </a:xfrm>
            <a:custGeom>
              <a:avLst/>
              <a:gdLst/>
              <a:ahLst/>
              <a:cxnLst/>
              <a:rect l="l" t="t" r="r" b="b"/>
              <a:pathLst>
                <a:path w="604485" h="562692">
                  <a:moveTo>
                    <a:pt x="604485" y="281346"/>
                  </a:moveTo>
                  <a:lnTo>
                    <a:pt x="401285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401285" y="0"/>
                  </a:lnTo>
                  <a:lnTo>
                    <a:pt x="604485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97C3C7D6-DF8A-C1B1-57C0-365CF8649BF1}"/>
                </a:ext>
              </a:extLst>
            </p:cNvPr>
            <p:cNvSpPr txBox="1"/>
            <p:nvPr/>
          </p:nvSpPr>
          <p:spPr>
            <a:xfrm>
              <a:off x="114300" y="-47625"/>
              <a:ext cx="375885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43" name="TextBox 43">
            <a:extLst>
              <a:ext uri="{FF2B5EF4-FFF2-40B4-BE49-F238E27FC236}">
                <a16:creationId xmlns:a16="http://schemas.microsoft.com/office/drawing/2014/main" id="{C3471BEF-A130-56E9-4B6F-DE350E4C4B47}"/>
              </a:ext>
            </a:extLst>
          </p:cNvPr>
          <p:cNvSpPr txBox="1"/>
          <p:nvPr/>
        </p:nvSpPr>
        <p:spPr>
          <a:xfrm>
            <a:off x="1321989" y="3340739"/>
            <a:ext cx="16014335" cy="1108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fr-FR" sz="8800" b="1" dirty="0">
                <a:solidFill>
                  <a:schemeClr val="tx2"/>
                </a:solidFill>
                <a:latin typeface="Open Sans 1 Bold" panose="020B0604020202020204" charset="0"/>
                <a:ea typeface="Open Sans 1 Bold" panose="020B0604020202020204" charset="0"/>
                <a:cs typeface="Open Sans 1 Bold" panose="020B0604020202020204" charset="0"/>
              </a:rPr>
              <a:t>Traitement des Données</a:t>
            </a:r>
            <a:endParaRPr lang="en-US" sz="8800" b="1" dirty="0">
              <a:solidFill>
                <a:schemeClr val="tx2"/>
              </a:solidFill>
              <a:latin typeface="Open Sans 1 Bold" panose="020B0604020202020204" charset="0"/>
              <a:ea typeface="Open Sans 1 Bold" panose="020B0604020202020204" charset="0"/>
              <a:cs typeface="Open Sans 1 Bold" panose="020B0604020202020204" charset="0"/>
              <a:sym typeface="Open Sans 1 Bold"/>
            </a:endParaRP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646AE1ED-DD26-713B-8557-D2D268B12FB4}"/>
              </a:ext>
            </a:extLst>
          </p:cNvPr>
          <p:cNvGrpSpPr/>
          <p:nvPr/>
        </p:nvGrpSpPr>
        <p:grpSpPr>
          <a:xfrm>
            <a:off x="17259300" y="9258300"/>
            <a:ext cx="892575" cy="892575"/>
            <a:chOff x="0" y="0"/>
            <a:chExt cx="902234" cy="902234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B1EB7CAD-D686-7FAC-76E7-00B275912F4E}"/>
                </a:ext>
              </a:extLst>
            </p:cNvPr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A1E6BE56-D95B-DC43-0669-393BF14AF233}"/>
                </a:ext>
              </a:extLst>
            </p:cNvPr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6504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47440" y="490197"/>
            <a:ext cx="5699560" cy="1310899"/>
          </a:xfrm>
          <a:custGeom>
            <a:avLst/>
            <a:gdLst/>
            <a:ahLst/>
            <a:cxnLst/>
            <a:rect l="l" t="t" r="r" b="b"/>
            <a:pathLst>
              <a:path w="5699560" h="1310899">
                <a:moveTo>
                  <a:pt x="0" y="0"/>
                </a:moveTo>
                <a:lnTo>
                  <a:pt x="5699560" y="0"/>
                </a:lnTo>
                <a:lnTo>
                  <a:pt x="5699560" y="1310899"/>
                </a:lnTo>
                <a:lnTo>
                  <a:pt x="0" y="1310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356510" y="432675"/>
            <a:ext cx="1368421" cy="1368421"/>
          </a:xfrm>
          <a:custGeom>
            <a:avLst/>
            <a:gdLst/>
            <a:ahLst/>
            <a:cxnLst/>
            <a:rect l="l" t="t" r="r" b="b"/>
            <a:pathLst>
              <a:path w="1368421" h="1368421">
                <a:moveTo>
                  <a:pt x="0" y="0"/>
                </a:moveTo>
                <a:lnTo>
                  <a:pt x="1368421" y="0"/>
                </a:lnTo>
                <a:lnTo>
                  <a:pt x="1368421" y="1368421"/>
                </a:lnTo>
                <a:lnTo>
                  <a:pt x="0" y="1368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800000">
            <a:off x="13600100" y="-1654699"/>
            <a:ext cx="5151463" cy="2368575"/>
            <a:chOff x="0" y="0"/>
            <a:chExt cx="1223810" cy="5626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10800000">
            <a:off x="609600" y="-936094"/>
            <a:ext cx="16014700" cy="1198000"/>
            <a:chOff x="0" y="0"/>
            <a:chExt cx="8542899" cy="6390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0" y="9261186"/>
            <a:ext cx="5182271" cy="2069614"/>
            <a:chOff x="0" y="0"/>
            <a:chExt cx="1408969" cy="5626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8969" cy="562692"/>
            </a:xfrm>
            <a:custGeom>
              <a:avLst/>
              <a:gdLst/>
              <a:ahLst/>
              <a:cxnLst/>
              <a:rect l="l" t="t" r="r" b="b"/>
              <a:pathLst>
                <a:path w="1408969" h="562692">
                  <a:moveTo>
                    <a:pt x="1408969" y="281346"/>
                  </a:moveTo>
                  <a:lnTo>
                    <a:pt x="1205769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205769" y="0"/>
                  </a:lnTo>
                  <a:lnTo>
                    <a:pt x="1408969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14300" y="-47625"/>
              <a:ext cx="1180369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-12553963" y="9696993"/>
            <a:ext cx="16014700" cy="1198000"/>
            <a:chOff x="0" y="0"/>
            <a:chExt cx="8542899" cy="6390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186785" y="6171247"/>
            <a:ext cx="111442" cy="108585"/>
            <a:chOff x="0" y="0"/>
            <a:chExt cx="148590" cy="144780"/>
          </a:xfrm>
        </p:grpSpPr>
        <p:sp>
          <p:nvSpPr>
            <p:cNvPr id="18" name="Freeform 18"/>
            <p:cNvSpPr/>
            <p:nvPr/>
          </p:nvSpPr>
          <p:spPr>
            <a:xfrm>
              <a:off x="46990" y="45720"/>
              <a:ext cx="49530" cy="52070"/>
            </a:xfrm>
            <a:custGeom>
              <a:avLst/>
              <a:gdLst/>
              <a:ahLst/>
              <a:cxnLst/>
              <a:rect l="l" t="t" r="r" b="b"/>
              <a:pathLst>
                <a:path w="49530" h="52070">
                  <a:moveTo>
                    <a:pt x="49530" y="17780"/>
                  </a:moveTo>
                  <a:cubicBezTo>
                    <a:pt x="27940" y="52070"/>
                    <a:pt x="7620" y="45720"/>
                    <a:pt x="3810" y="39370"/>
                  </a:cubicBezTo>
                  <a:cubicBezTo>
                    <a:pt x="0" y="31750"/>
                    <a:pt x="3810" y="11430"/>
                    <a:pt x="10160" y="5080"/>
                  </a:cubicBezTo>
                  <a:cubicBezTo>
                    <a:pt x="16510" y="0"/>
                    <a:pt x="43180" y="7620"/>
                    <a:pt x="43180" y="7620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78646" y="777957"/>
            <a:ext cx="1621951" cy="58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6"/>
              </a:lnSpc>
              <a:spcBef>
                <a:spcPct val="0"/>
              </a:spcBef>
            </a:pPr>
            <a:r>
              <a:rPr lang="en-US" sz="3447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00353" y="804419"/>
            <a:ext cx="5193734" cy="55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fr-FR" sz="3600" b="1" dirty="0">
                <a:solidFill>
                  <a:schemeClr val="bg1"/>
                </a:solidFill>
              </a:rPr>
              <a:t>Préparation des Données</a:t>
            </a:r>
            <a:endParaRPr lang="en-US" sz="3243" b="1" dirty="0">
              <a:solidFill>
                <a:schemeClr val="bg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7259300" y="9261186"/>
            <a:ext cx="892575" cy="892575"/>
            <a:chOff x="0" y="0"/>
            <a:chExt cx="902234" cy="9022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9</a:t>
              </a:r>
            </a:p>
          </p:txBody>
        </p:sp>
      </p:grpSp>
      <p:sp>
        <p:nvSpPr>
          <p:cNvPr id="27" name="Rectangle 2">
            <a:extLst>
              <a:ext uri="{FF2B5EF4-FFF2-40B4-BE49-F238E27FC236}">
                <a16:creationId xmlns:a16="http://schemas.microsoft.com/office/drawing/2014/main" id="{DB8A7F4F-96FB-7E0E-6BF8-1EDB11ADA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955" y="1992688"/>
            <a:ext cx="1045234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des données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b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« Our World in Data COVID-19 »</a:t>
            </a:r>
            <a:b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Colonnes clés : country, date, </a:t>
            </a:r>
            <a:r>
              <a:rPr kumimoji="0" lang="fr-FR" altLang="fr-FR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total_cases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fr-FR" altLang="fr-FR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total_deaths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FA28FE57-25F8-6028-54B0-38302CA93F94}"/>
              </a:ext>
            </a:extLst>
          </p:cNvPr>
          <p:cNvSpPr txBox="1"/>
          <p:nvPr/>
        </p:nvSpPr>
        <p:spPr>
          <a:xfrm>
            <a:off x="3074416" y="3805176"/>
            <a:ext cx="156811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Nettoyage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Suppression des valeurs manquantes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Validation des données (pas de valeurs négatives ou incohérentes)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Gestion des anomalies et valeurs aberrantes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999D5064-27A9-255A-A9CC-F7A449441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198" y="6244590"/>
            <a:ext cx="7917552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Conversion des dates au format 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Conversion des cas/décès en entiers (</a:t>
            </a:r>
            <a:r>
              <a:rPr kumimoji="0" lang="fr-FR" altLang="fr-FR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fr-FR" altLang="fr-F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3962050" y="-1511325"/>
            <a:ext cx="5151463" cy="2368575"/>
            <a:chOff x="0" y="0"/>
            <a:chExt cx="1223810" cy="5626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264325" y="-773671"/>
            <a:ext cx="15779075" cy="1180373"/>
            <a:chOff x="0" y="0"/>
            <a:chExt cx="8542899" cy="639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-503263" y="9258300"/>
            <a:ext cx="5151463" cy="2368575"/>
            <a:chOff x="0" y="0"/>
            <a:chExt cx="1223810" cy="5626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12192013" y="9840367"/>
            <a:ext cx="16014700" cy="1198000"/>
            <a:chOff x="0" y="0"/>
            <a:chExt cx="8542899" cy="6390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575133" y="534802"/>
            <a:ext cx="5602158" cy="1288496"/>
          </a:xfrm>
          <a:custGeom>
            <a:avLst/>
            <a:gdLst/>
            <a:ahLst/>
            <a:cxnLst/>
            <a:rect l="l" t="t" r="r" b="b"/>
            <a:pathLst>
              <a:path w="5602158" h="1288496">
                <a:moveTo>
                  <a:pt x="0" y="0"/>
                </a:moveTo>
                <a:lnTo>
                  <a:pt x="5602158" y="0"/>
                </a:lnTo>
                <a:lnTo>
                  <a:pt x="5602158" y="1288497"/>
                </a:lnTo>
                <a:lnTo>
                  <a:pt x="0" y="1288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813788" y="534802"/>
            <a:ext cx="1373861" cy="1373861"/>
          </a:xfrm>
          <a:custGeom>
            <a:avLst/>
            <a:gdLst/>
            <a:ahLst/>
            <a:cxnLst/>
            <a:rect l="l" t="t" r="r" b="b"/>
            <a:pathLst>
              <a:path w="1373861" h="1373861">
                <a:moveTo>
                  <a:pt x="0" y="0"/>
                </a:moveTo>
                <a:lnTo>
                  <a:pt x="1373861" y="0"/>
                </a:lnTo>
                <a:lnTo>
                  <a:pt x="1373861" y="1373861"/>
                </a:lnTo>
                <a:lnTo>
                  <a:pt x="0" y="1373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10602" y="736825"/>
            <a:ext cx="1780232" cy="67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5"/>
              </a:lnSpc>
              <a:spcBef>
                <a:spcPct val="0"/>
              </a:spcBef>
            </a:pPr>
            <a:r>
              <a:rPr lang="en-US" sz="3968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66771" y="887560"/>
            <a:ext cx="5894511" cy="582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1"/>
              </a:lnSpc>
              <a:spcBef>
                <a:spcPct val="0"/>
              </a:spcBef>
            </a:pPr>
            <a:r>
              <a:rPr lang="fr-FR" sz="3600" b="1" dirty="0">
                <a:solidFill>
                  <a:schemeClr val="bg1"/>
                </a:solidFill>
              </a:rPr>
              <a:t>Modélisation Cassandra</a:t>
            </a:r>
            <a:endParaRPr lang="en-US" sz="3444" b="1" dirty="0">
              <a:solidFill>
                <a:schemeClr val="bg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7259300" y="9258300"/>
            <a:ext cx="892575" cy="892575"/>
            <a:chOff x="0" y="0"/>
            <a:chExt cx="902234" cy="9022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10</a:t>
              </a:r>
            </a:p>
          </p:txBody>
        </p:sp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ED5AF7ED-1754-1947-E141-E3C7BD96C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839" y="4040798"/>
            <a:ext cx="5508551" cy="2493170"/>
          </a:xfrm>
          <a:prstGeom prst="rect">
            <a:avLst/>
          </a:prstGeom>
        </p:spPr>
      </p:pic>
      <p:sp>
        <p:nvSpPr>
          <p:cNvPr id="26" name="Rectangle 1">
            <a:extLst>
              <a:ext uri="{FF2B5EF4-FFF2-40B4-BE49-F238E27FC236}">
                <a16:creationId xmlns:a16="http://schemas.microsoft.com/office/drawing/2014/main" id="{5A74F08B-E001-16CD-1ADF-5C4889D0B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833" y="2333539"/>
            <a:ext cx="578645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Keyspace</a:t>
            </a:r>
            <a:r>
              <a:rPr lang="fr-FR" altLang="fr-FR" sz="3600" dirty="0">
                <a:latin typeface="Arial" panose="020B0604020202020204" pitchFamily="34" charset="0"/>
              </a:rPr>
              <a:t> </a:t>
            </a:r>
            <a:r>
              <a:rPr lang="fr-FR" altLang="fr-FR" sz="3600" b="1" dirty="0">
                <a:latin typeface="Arial" panose="020B0604020202020204" pitchFamily="34" charset="0"/>
              </a:rPr>
              <a:t>: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covid</a:t>
            </a: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       : </a:t>
            </a:r>
            <a:r>
              <a:rPr kumimoji="0" lang="fr-FR" altLang="fr-FR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stats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C465896-C44F-44C5-2E95-653C747AFB4F}"/>
              </a:ext>
            </a:extLst>
          </p:cNvPr>
          <p:cNvSpPr txBox="1"/>
          <p:nvPr/>
        </p:nvSpPr>
        <p:spPr>
          <a:xfrm>
            <a:off x="2032438" y="6763152"/>
            <a:ext cx="15673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/>
              <a:t>Raison du modèle</a:t>
            </a:r>
            <a:r>
              <a:rPr lang="fr-FR" sz="3600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Accès rapide aux données par pays et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Adapté aux requêtes temporelles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4C2551-055A-B771-B6DD-5026E6F68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9006" y="2095500"/>
            <a:ext cx="5508551" cy="2493170"/>
          </a:xfrm>
          <a:prstGeom prst="rect">
            <a:avLst/>
          </a:prstGeom>
        </p:spPr>
      </p:pic>
      <p:sp>
        <p:nvSpPr>
          <p:cNvPr id="20" name="AutoShape 39">
            <a:extLst>
              <a:ext uri="{FF2B5EF4-FFF2-40B4-BE49-F238E27FC236}">
                <a16:creationId xmlns:a16="http://schemas.microsoft.com/office/drawing/2014/main" id="{E0BD3B3B-A093-6E1D-67FA-B6F2D6225098}"/>
              </a:ext>
            </a:extLst>
          </p:cNvPr>
          <p:cNvSpPr/>
          <p:nvPr/>
        </p:nvSpPr>
        <p:spPr>
          <a:xfrm>
            <a:off x="6304004" y="2855722"/>
            <a:ext cx="3526902" cy="209204"/>
          </a:xfrm>
          <a:prstGeom prst="line">
            <a:avLst/>
          </a:prstGeom>
          <a:ln w="28575" cap="rnd">
            <a:solidFill>
              <a:srgbClr val="CB1B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40">
            <a:extLst>
              <a:ext uri="{FF2B5EF4-FFF2-40B4-BE49-F238E27FC236}">
                <a16:creationId xmlns:a16="http://schemas.microsoft.com/office/drawing/2014/main" id="{70808CDD-9BBC-9665-7D94-53524B6E95D1}"/>
              </a:ext>
            </a:extLst>
          </p:cNvPr>
          <p:cNvGrpSpPr/>
          <p:nvPr/>
        </p:nvGrpSpPr>
        <p:grpSpPr>
          <a:xfrm rot="5751148">
            <a:off x="9662965" y="2833422"/>
            <a:ext cx="312518" cy="553998"/>
            <a:chOff x="0" y="0"/>
            <a:chExt cx="416690" cy="738664"/>
          </a:xfrm>
        </p:grpSpPr>
        <p:sp>
          <p:nvSpPr>
            <p:cNvPr id="27" name="Freeform 41">
              <a:extLst>
                <a:ext uri="{FF2B5EF4-FFF2-40B4-BE49-F238E27FC236}">
                  <a16:creationId xmlns:a16="http://schemas.microsoft.com/office/drawing/2014/main" id="{F2F3EFFC-E79D-194C-96C9-404F5BA57054}"/>
                </a:ext>
              </a:extLst>
            </p:cNvPr>
            <p:cNvSpPr/>
            <p:nvPr/>
          </p:nvSpPr>
          <p:spPr>
            <a:xfrm>
              <a:off x="0" y="0"/>
              <a:ext cx="416687" cy="738632"/>
            </a:xfrm>
            <a:custGeom>
              <a:avLst/>
              <a:gdLst/>
              <a:ahLst/>
              <a:cxnLst/>
              <a:rect l="l" t="t" r="r" b="b"/>
              <a:pathLst>
                <a:path w="416687" h="738632">
                  <a:moveTo>
                    <a:pt x="0" y="738632"/>
                  </a:moveTo>
                  <a:lnTo>
                    <a:pt x="208407" y="0"/>
                  </a:lnTo>
                  <a:lnTo>
                    <a:pt x="416687" y="738632"/>
                  </a:lnTo>
                  <a:close/>
                </a:path>
              </a:pathLst>
            </a:custGeom>
            <a:solidFill>
              <a:srgbClr val="CB1B4A"/>
            </a:solid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3962050" y="-1511325"/>
            <a:ext cx="5151463" cy="2368575"/>
            <a:chOff x="0" y="0"/>
            <a:chExt cx="1223810" cy="5626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028700" y="-773671"/>
            <a:ext cx="16014700" cy="1198000"/>
            <a:chOff x="0" y="0"/>
            <a:chExt cx="8542899" cy="639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9429750"/>
            <a:ext cx="5151463" cy="2368575"/>
            <a:chOff x="0" y="0"/>
            <a:chExt cx="1223810" cy="5626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12192013" y="9840367"/>
            <a:ext cx="16014700" cy="1198000"/>
            <a:chOff x="0" y="0"/>
            <a:chExt cx="8542899" cy="6390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601492" y="630259"/>
            <a:ext cx="6847308" cy="1771798"/>
          </a:xfrm>
          <a:custGeom>
            <a:avLst/>
            <a:gdLst/>
            <a:ahLst/>
            <a:cxnLst/>
            <a:rect l="l" t="t" r="r" b="b"/>
            <a:pathLst>
              <a:path w="5622740" h="1293230">
                <a:moveTo>
                  <a:pt x="0" y="0"/>
                </a:moveTo>
                <a:lnTo>
                  <a:pt x="5622739" y="0"/>
                </a:lnTo>
                <a:lnTo>
                  <a:pt x="5622739" y="1293230"/>
                </a:lnTo>
                <a:lnTo>
                  <a:pt x="0" y="129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45319" y="493033"/>
            <a:ext cx="1552403" cy="1552403"/>
          </a:xfrm>
          <a:custGeom>
            <a:avLst/>
            <a:gdLst/>
            <a:ahLst/>
            <a:cxnLst/>
            <a:rect l="l" t="t" r="r" b="b"/>
            <a:pathLst>
              <a:path w="1552403" h="1552403">
                <a:moveTo>
                  <a:pt x="0" y="0"/>
                </a:moveTo>
                <a:lnTo>
                  <a:pt x="1552403" y="0"/>
                </a:lnTo>
                <a:lnTo>
                  <a:pt x="1552403" y="1552403"/>
                </a:lnTo>
                <a:lnTo>
                  <a:pt x="0" y="1552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33431" y="851797"/>
            <a:ext cx="1976180" cy="64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8"/>
              </a:lnSpc>
              <a:spcBef>
                <a:spcPct val="0"/>
              </a:spcBef>
            </a:pPr>
            <a:r>
              <a:rPr lang="en-US" sz="3734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62301" y="955983"/>
            <a:ext cx="5561931" cy="122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4"/>
              </a:lnSpc>
              <a:spcBef>
                <a:spcPct val="0"/>
              </a:spcBef>
            </a:pPr>
            <a:r>
              <a:rPr lang="fr-FR" sz="3600" b="1" dirty="0">
                <a:solidFill>
                  <a:schemeClr val="bg1"/>
                </a:solidFill>
              </a:rPr>
              <a:t>Insertion optimisée et gestion</a:t>
            </a:r>
            <a:endParaRPr lang="en-US" sz="3467" b="1" dirty="0">
              <a:solidFill>
                <a:schemeClr val="bg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7259300" y="9258300"/>
            <a:ext cx="892575" cy="892575"/>
            <a:chOff x="0" y="0"/>
            <a:chExt cx="902234" cy="9022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11</a:t>
              </a:r>
            </a:p>
          </p:txBody>
        </p:sp>
      </p:grpSp>
      <p:sp>
        <p:nvSpPr>
          <p:cNvPr id="27" name="Rectangle 1">
            <a:extLst>
              <a:ext uri="{FF2B5EF4-FFF2-40B4-BE49-F238E27FC236}">
                <a16:creationId xmlns:a16="http://schemas.microsoft.com/office/drawing/2014/main" id="{0F3E71B9-66FD-78FF-B3F0-0D6CCB62F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635" y="3021367"/>
            <a:ext cx="1212049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Insertion batch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Regroupement de 100 lignes par batch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Réduction du nombre de requêtes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Meilleure performance d’écriture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 des erreurs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avant insertion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</a:t>
            </a:r>
            <a:r>
              <a:rPr kumimoji="0" lang="fr-FR" altLang="fr-F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erreurs ou données rejetées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610A-513F-CFD4-30F2-E7CBC6DD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2FD32A-7E3B-1644-802B-CFD375ADC3B7}"/>
              </a:ext>
            </a:extLst>
          </p:cNvPr>
          <p:cNvSpPr/>
          <p:nvPr/>
        </p:nvSpPr>
        <p:spPr>
          <a:xfrm>
            <a:off x="-17611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603E7B2-2EB6-D158-410C-7302B0994E63}"/>
              </a:ext>
            </a:extLst>
          </p:cNvPr>
          <p:cNvGrpSpPr/>
          <p:nvPr/>
        </p:nvGrpSpPr>
        <p:grpSpPr>
          <a:xfrm>
            <a:off x="14564053" y="-1477201"/>
            <a:ext cx="5390494" cy="2982376"/>
            <a:chOff x="0" y="0"/>
            <a:chExt cx="7187325" cy="3976501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4B590A2-CAA1-B313-F4CF-E4600F4D8618}"/>
                </a:ext>
              </a:extLst>
            </p:cNvPr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8DD8A6F-6B30-9C6A-2636-4E892F6817A1}"/>
                  </a:ext>
                </a:extLst>
              </p:cNvPr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E032BAF-507F-341A-DBBB-26EA18D724C2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29E160B-4401-A1BF-8B45-AC84D2BD8914}"/>
                </a:ext>
              </a:extLst>
            </p:cNvPr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2E2C9EF-1AF5-1552-8649-8EFADB85143E}"/>
                  </a:ext>
                </a:extLst>
              </p:cNvPr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5271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CB539F5-3751-41EB-C8A4-3E3A0E8ABDE2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F12B44F-037D-0DE9-94F6-04CDD7C734D5}"/>
              </a:ext>
            </a:extLst>
          </p:cNvPr>
          <p:cNvGrpSpPr/>
          <p:nvPr/>
        </p:nvGrpSpPr>
        <p:grpSpPr>
          <a:xfrm>
            <a:off x="-673113" y="9251081"/>
            <a:ext cx="5321313" cy="2446670"/>
            <a:chOff x="0" y="0"/>
            <a:chExt cx="1223810" cy="56269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9ABC51C-75F0-BEB5-A769-F9424B6F3EC3}"/>
                </a:ext>
              </a:extLst>
            </p:cNvPr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1B0FE7D-1A3A-B817-57B3-D32AD86B971D}"/>
                </a:ext>
              </a:extLst>
            </p:cNvPr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7C10EF7-6A62-85EA-6E5D-08C6BD3F0B5E}"/>
              </a:ext>
            </a:extLst>
          </p:cNvPr>
          <p:cNvGrpSpPr/>
          <p:nvPr/>
        </p:nvGrpSpPr>
        <p:grpSpPr>
          <a:xfrm>
            <a:off x="-673113" y="8675100"/>
            <a:ext cx="2673102" cy="1151961"/>
            <a:chOff x="0" y="0"/>
            <a:chExt cx="1482931" cy="639062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DE8E2C0-E5D1-1F74-6F51-EBC85E24CBF3}"/>
                </a:ext>
              </a:extLst>
            </p:cNvPr>
            <p:cNvSpPr/>
            <p:nvPr/>
          </p:nvSpPr>
          <p:spPr>
            <a:xfrm>
              <a:off x="0" y="0"/>
              <a:ext cx="1482931" cy="639062"/>
            </a:xfrm>
            <a:custGeom>
              <a:avLst/>
              <a:gdLst/>
              <a:ahLst/>
              <a:cxnLst/>
              <a:rect l="l" t="t" r="r" b="b"/>
              <a:pathLst>
                <a:path w="1482931" h="639062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4AA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D2CDFA-F72D-D880-A6E0-9FEA3AEA2FC2}"/>
                </a:ext>
              </a:extLst>
            </p:cNvPr>
            <p:cNvSpPr txBox="1"/>
            <p:nvPr/>
          </p:nvSpPr>
          <p:spPr>
            <a:xfrm>
              <a:off x="114300" y="-47625"/>
              <a:ext cx="1254331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922565D-B3ED-866C-516D-7FDA86D06C05}"/>
              </a:ext>
            </a:extLst>
          </p:cNvPr>
          <p:cNvGrpSpPr/>
          <p:nvPr/>
        </p:nvGrpSpPr>
        <p:grpSpPr>
          <a:xfrm>
            <a:off x="2450358" y="9762097"/>
            <a:ext cx="14808942" cy="1198000"/>
            <a:chOff x="0" y="0"/>
            <a:chExt cx="7899698" cy="639062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0B7B126-7521-F006-5CF1-AFAE98005101}"/>
                </a:ext>
              </a:extLst>
            </p:cNvPr>
            <p:cNvSpPr/>
            <p:nvPr/>
          </p:nvSpPr>
          <p:spPr>
            <a:xfrm>
              <a:off x="0" y="0"/>
              <a:ext cx="7899698" cy="639062"/>
            </a:xfrm>
            <a:custGeom>
              <a:avLst/>
              <a:gdLst/>
              <a:ahLst/>
              <a:cxnLst/>
              <a:rect l="l" t="t" r="r" b="b"/>
              <a:pathLst>
                <a:path w="7899698" h="639062">
                  <a:moveTo>
                    <a:pt x="7899698" y="319531"/>
                  </a:moveTo>
                  <a:lnTo>
                    <a:pt x="7696498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7696498" y="0"/>
                  </a:lnTo>
                  <a:lnTo>
                    <a:pt x="7899698" y="319531"/>
                  </a:lnTo>
                  <a:close/>
                </a:path>
              </a:pathLst>
            </a:custGeom>
            <a:solidFill>
              <a:srgbClr val="5271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0852962-C2BC-4940-1FEC-C1815A5919F9}"/>
                </a:ext>
              </a:extLst>
            </p:cNvPr>
            <p:cNvSpPr txBox="1"/>
            <p:nvPr/>
          </p:nvSpPr>
          <p:spPr>
            <a:xfrm>
              <a:off x="114300" y="-47625"/>
              <a:ext cx="7671098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Freeform 19">
            <a:extLst>
              <a:ext uri="{FF2B5EF4-FFF2-40B4-BE49-F238E27FC236}">
                <a16:creationId xmlns:a16="http://schemas.microsoft.com/office/drawing/2014/main" id="{D0A76A47-206E-57C9-24AB-0E0815B38656}"/>
              </a:ext>
            </a:extLst>
          </p:cNvPr>
          <p:cNvSpPr/>
          <p:nvPr/>
        </p:nvSpPr>
        <p:spPr>
          <a:xfrm rot="-5400000">
            <a:off x="-1086039" y="3863443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484"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07759B31-EBB1-B316-53B0-49E1B7E8EE3E}"/>
              </a:ext>
            </a:extLst>
          </p:cNvPr>
          <p:cNvSpPr/>
          <p:nvPr/>
        </p:nvSpPr>
        <p:spPr>
          <a:xfrm>
            <a:off x="17043400" y="-184885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3"/>
                </a:lnTo>
                <a:lnTo>
                  <a:pt x="0" y="397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0E504572-5D12-6F0C-0B09-EE627711FF5B}"/>
              </a:ext>
            </a:extLst>
          </p:cNvPr>
          <p:cNvSpPr/>
          <p:nvPr/>
        </p:nvSpPr>
        <p:spPr>
          <a:xfrm>
            <a:off x="2952724" y="10076674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2"/>
                </a:lnTo>
                <a:lnTo>
                  <a:pt x="0" y="3977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EADFE65D-6229-93CA-16F5-1CAE366CE8EE}"/>
              </a:ext>
            </a:extLst>
          </p:cNvPr>
          <p:cNvSpPr/>
          <p:nvPr/>
        </p:nvSpPr>
        <p:spPr>
          <a:xfrm>
            <a:off x="17808289" y="6000750"/>
            <a:ext cx="991473" cy="677919"/>
          </a:xfrm>
          <a:custGeom>
            <a:avLst/>
            <a:gdLst/>
            <a:ahLst/>
            <a:cxnLst/>
            <a:rect l="l" t="t" r="r" b="b"/>
            <a:pathLst>
              <a:path w="991473" h="677919">
                <a:moveTo>
                  <a:pt x="0" y="0"/>
                </a:moveTo>
                <a:lnTo>
                  <a:pt x="991473" y="0"/>
                </a:lnTo>
                <a:lnTo>
                  <a:pt x="991473" y="677919"/>
                </a:lnTo>
                <a:lnTo>
                  <a:pt x="0" y="6779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E5349AA-B531-CEE8-D189-F72F9985FBA7}"/>
              </a:ext>
            </a:extLst>
          </p:cNvPr>
          <p:cNvSpPr/>
          <p:nvPr/>
        </p:nvSpPr>
        <p:spPr>
          <a:xfrm>
            <a:off x="11399076" y="9978798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BA059D72-5CA4-DA0F-B50B-8E6E33A81D8C}"/>
              </a:ext>
            </a:extLst>
          </p:cNvPr>
          <p:cNvSpPr/>
          <p:nvPr/>
        </p:nvSpPr>
        <p:spPr>
          <a:xfrm>
            <a:off x="13138183" y="6339710"/>
            <a:ext cx="2851740" cy="1886816"/>
          </a:xfrm>
          <a:custGeom>
            <a:avLst/>
            <a:gdLst/>
            <a:ahLst/>
            <a:cxnLst/>
            <a:rect l="l" t="t" r="r" b="b"/>
            <a:pathLst>
              <a:path w="3802320" h="2515754">
                <a:moveTo>
                  <a:pt x="0" y="0"/>
                </a:moveTo>
                <a:lnTo>
                  <a:pt x="3802320" y="0"/>
                </a:lnTo>
                <a:lnTo>
                  <a:pt x="3802320" y="2515754"/>
                </a:lnTo>
                <a:lnTo>
                  <a:pt x="0" y="25157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38869CC3-5C86-F317-B00C-524D578A26DE}"/>
              </a:ext>
            </a:extLst>
          </p:cNvPr>
          <p:cNvSpPr/>
          <p:nvPr/>
        </p:nvSpPr>
        <p:spPr>
          <a:xfrm>
            <a:off x="1152229" y="6211669"/>
            <a:ext cx="2851740" cy="1315316"/>
          </a:xfrm>
          <a:custGeom>
            <a:avLst/>
            <a:gdLst/>
            <a:ahLst/>
            <a:cxnLst/>
            <a:rect l="l" t="t" r="r" b="b"/>
            <a:pathLst>
              <a:path w="3802320" h="1753754">
                <a:moveTo>
                  <a:pt x="0" y="0"/>
                </a:moveTo>
                <a:lnTo>
                  <a:pt x="3802320" y="0"/>
                </a:lnTo>
                <a:lnTo>
                  <a:pt x="3802320" y="1753754"/>
                </a:lnTo>
                <a:lnTo>
                  <a:pt x="0" y="17537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36E472B6-8DF3-89D1-284D-4D975046B235}"/>
              </a:ext>
            </a:extLst>
          </p:cNvPr>
          <p:cNvGrpSpPr/>
          <p:nvPr/>
        </p:nvGrpSpPr>
        <p:grpSpPr>
          <a:xfrm>
            <a:off x="-6388211" y="-5535870"/>
            <a:ext cx="10870713" cy="10119133"/>
            <a:chOff x="0" y="0"/>
            <a:chExt cx="604485" cy="562692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A94AC232-CBCC-5559-78A2-13C508BA55CE}"/>
                </a:ext>
              </a:extLst>
            </p:cNvPr>
            <p:cNvSpPr/>
            <p:nvPr/>
          </p:nvSpPr>
          <p:spPr>
            <a:xfrm>
              <a:off x="0" y="0"/>
              <a:ext cx="604485" cy="562692"/>
            </a:xfrm>
            <a:custGeom>
              <a:avLst/>
              <a:gdLst/>
              <a:ahLst/>
              <a:cxnLst/>
              <a:rect l="l" t="t" r="r" b="b"/>
              <a:pathLst>
                <a:path w="604485" h="562692">
                  <a:moveTo>
                    <a:pt x="604485" y="281346"/>
                  </a:moveTo>
                  <a:lnTo>
                    <a:pt x="401285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401285" y="0"/>
                  </a:lnTo>
                  <a:lnTo>
                    <a:pt x="604485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284D1059-BB19-D198-A1FF-FDAC19230F2F}"/>
                </a:ext>
              </a:extLst>
            </p:cNvPr>
            <p:cNvSpPr txBox="1"/>
            <p:nvPr/>
          </p:nvSpPr>
          <p:spPr>
            <a:xfrm>
              <a:off x="114300" y="-47625"/>
              <a:ext cx="375885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43" name="TextBox 43">
            <a:extLst>
              <a:ext uri="{FF2B5EF4-FFF2-40B4-BE49-F238E27FC236}">
                <a16:creationId xmlns:a16="http://schemas.microsoft.com/office/drawing/2014/main" id="{EF4FA0AA-794E-B6F5-957B-9297369AEBB3}"/>
              </a:ext>
            </a:extLst>
          </p:cNvPr>
          <p:cNvSpPr txBox="1"/>
          <p:nvPr/>
        </p:nvSpPr>
        <p:spPr>
          <a:xfrm>
            <a:off x="3535996" y="4242215"/>
            <a:ext cx="11216008" cy="2225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9600" b="1" dirty="0" err="1">
                <a:solidFill>
                  <a:schemeClr val="tx2"/>
                </a:solidFill>
                <a:latin typeface="Open Sans 1 Bold" panose="020B0604020202020204" charset="0"/>
                <a:ea typeface="Open Sans 1 Bold" panose="020B0604020202020204" charset="0"/>
                <a:cs typeface="Open Sans 1 Bold" panose="020B0604020202020204" charset="0"/>
                <a:sym typeface="Open Sans 1 Bold"/>
              </a:rPr>
              <a:t>Modélisation</a:t>
            </a:r>
            <a:r>
              <a:rPr lang="fr-FR" sz="9600" b="1" dirty="0">
                <a:solidFill>
                  <a:schemeClr val="tx2"/>
                </a:solidFill>
                <a:latin typeface="Open Sans 1 Bold" panose="020B0604020202020204" charset="0"/>
                <a:ea typeface="Open Sans 1 Bold" panose="020B0604020202020204" charset="0"/>
                <a:cs typeface="Open Sans 1 Bold" panose="020B0604020202020204" charset="0"/>
              </a:rPr>
              <a:t> et Prédiction</a:t>
            </a:r>
            <a:endParaRPr lang="en-US" sz="9600" b="1" dirty="0">
              <a:solidFill>
                <a:schemeClr val="tx2"/>
              </a:solidFill>
              <a:latin typeface="Open Sans 1 Bold" panose="020B0604020202020204" charset="0"/>
              <a:ea typeface="Open Sans 1 Bold" panose="020B0604020202020204" charset="0"/>
              <a:cs typeface="Open Sans 1 Bold" panose="020B0604020202020204" charset="0"/>
              <a:sym typeface="Open Sans 1 Bold"/>
            </a:endParaRP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38DF19F8-4665-694E-8B47-B5512D524A69}"/>
              </a:ext>
            </a:extLst>
          </p:cNvPr>
          <p:cNvGrpSpPr/>
          <p:nvPr/>
        </p:nvGrpSpPr>
        <p:grpSpPr>
          <a:xfrm>
            <a:off x="17259300" y="9258300"/>
            <a:ext cx="892575" cy="892575"/>
            <a:chOff x="0" y="0"/>
            <a:chExt cx="902234" cy="902234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FF1C12D2-3B66-ED60-63DD-895648A5342C}"/>
                </a:ext>
              </a:extLst>
            </p:cNvPr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7FD07A61-635E-6323-2B05-7C88E47C0FB7}"/>
                </a:ext>
              </a:extLst>
            </p:cNvPr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2570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3962050" y="-1511325"/>
            <a:ext cx="5151463" cy="2368575"/>
            <a:chOff x="0" y="0"/>
            <a:chExt cx="1223810" cy="5626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028700" y="-773671"/>
            <a:ext cx="16014700" cy="1198000"/>
            <a:chOff x="0" y="0"/>
            <a:chExt cx="8542899" cy="639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9429750"/>
            <a:ext cx="5151463" cy="2368575"/>
            <a:chOff x="0" y="0"/>
            <a:chExt cx="1223810" cy="5626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12192013" y="9840367"/>
            <a:ext cx="16014700" cy="1198000"/>
            <a:chOff x="0" y="0"/>
            <a:chExt cx="8542899" cy="6390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443239" y="541330"/>
            <a:ext cx="5617928" cy="1292124"/>
          </a:xfrm>
          <a:custGeom>
            <a:avLst/>
            <a:gdLst/>
            <a:ahLst/>
            <a:cxnLst/>
            <a:rect l="l" t="t" r="r" b="b"/>
            <a:pathLst>
              <a:path w="5617928" h="1292124">
                <a:moveTo>
                  <a:pt x="0" y="0"/>
                </a:moveTo>
                <a:lnTo>
                  <a:pt x="5617928" y="0"/>
                </a:lnTo>
                <a:lnTo>
                  <a:pt x="5617928" y="1292123"/>
                </a:lnTo>
                <a:lnTo>
                  <a:pt x="0" y="1292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17512" y="424329"/>
            <a:ext cx="1526126" cy="1526126"/>
          </a:xfrm>
          <a:custGeom>
            <a:avLst/>
            <a:gdLst/>
            <a:ahLst/>
            <a:cxnLst/>
            <a:rect l="l" t="t" r="r" b="b"/>
            <a:pathLst>
              <a:path w="1526126" h="1526126">
                <a:moveTo>
                  <a:pt x="0" y="0"/>
                </a:moveTo>
                <a:lnTo>
                  <a:pt x="1526125" y="0"/>
                </a:lnTo>
                <a:lnTo>
                  <a:pt x="1526125" y="1526125"/>
                </a:lnTo>
                <a:lnTo>
                  <a:pt x="0" y="1526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08103" y="867789"/>
            <a:ext cx="1535534" cy="572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1"/>
              </a:lnSpc>
              <a:spcBef>
                <a:spcPct val="0"/>
              </a:spcBef>
            </a:pPr>
            <a:r>
              <a:rPr lang="en-US" sz="3422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43239" y="845541"/>
            <a:ext cx="5735458" cy="544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fr-FR" sz="3600" b="1" dirty="0">
                <a:solidFill>
                  <a:schemeClr val="bg1"/>
                </a:solidFill>
              </a:rPr>
              <a:t>Modèles et Prédictions</a:t>
            </a:r>
            <a:endParaRPr lang="en-US" sz="3200" b="1" dirty="0">
              <a:solidFill>
                <a:schemeClr val="bg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7259300" y="9258300"/>
            <a:ext cx="892575" cy="892575"/>
            <a:chOff x="0" y="0"/>
            <a:chExt cx="902234" cy="9022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13</a:t>
              </a:r>
            </a:p>
          </p:txBody>
        </p: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E43866DB-6FA4-BF85-6CC1-E1DD0A90FE4D}"/>
              </a:ext>
            </a:extLst>
          </p:cNvPr>
          <p:cNvSpPr txBox="1"/>
          <p:nvPr/>
        </p:nvSpPr>
        <p:spPr>
          <a:xfrm>
            <a:off x="2043637" y="2204625"/>
            <a:ext cx="1567313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dirty="0"/>
              <a:t>🔍 </a:t>
            </a:r>
            <a:r>
              <a:rPr lang="fr-FR" sz="3600" b="1" dirty="0"/>
              <a:t>Algorithmes ML utilisés</a:t>
            </a:r>
            <a:r>
              <a:rPr lang="fr-FR" sz="3600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Régression </a:t>
            </a:r>
            <a:r>
              <a:rPr lang="fr-FR" sz="3600" b="1" dirty="0"/>
              <a:t>linéaire</a:t>
            </a:r>
            <a:r>
              <a:rPr lang="fr-FR" sz="3600" dirty="0"/>
              <a:t> : tendance 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Régression </a:t>
            </a:r>
            <a:r>
              <a:rPr lang="fr-FR" sz="3600" b="1" dirty="0"/>
              <a:t>polynomiale</a:t>
            </a:r>
            <a:r>
              <a:rPr lang="fr-FR" sz="3600" dirty="0"/>
              <a:t> : degré 2 et 3 pour courbes complexes</a:t>
            </a:r>
          </a:p>
          <a:p>
            <a:endParaRPr lang="fr-FR" sz="3600" dirty="0"/>
          </a:p>
          <a:p>
            <a:pPr>
              <a:buNone/>
            </a:pPr>
            <a:r>
              <a:rPr lang="fr-FR" sz="3600" b="1" dirty="0"/>
              <a:t>⚙️ Sélection automatique du meilleur modèle</a:t>
            </a:r>
            <a:r>
              <a:rPr lang="fr-FR" sz="3600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Basée sur le </a:t>
            </a:r>
            <a:r>
              <a:rPr lang="fr-FR" sz="3600" b="1" dirty="0"/>
              <a:t>R² Score</a:t>
            </a:r>
            <a:r>
              <a:rPr lang="fr-FR" sz="3600" dirty="0"/>
              <a:t> (le plus élevé)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Évite le surapprentissage (validation des performances)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3600" dirty="0"/>
          </a:p>
          <a:p>
            <a:pPr>
              <a:buNone/>
            </a:pPr>
            <a:r>
              <a:rPr lang="fr-FR" sz="3600" b="1" dirty="0"/>
              <a:t>📊 Prédictions</a:t>
            </a:r>
            <a:r>
              <a:rPr lang="fr-FR" sz="3600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Prédiction du nombre de cas pour les jours à venir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b="1" dirty="0"/>
              <a:t>Intervalles de confiance</a:t>
            </a:r>
            <a:r>
              <a:rPr lang="fr-FR" sz="3600" dirty="0"/>
              <a:t> pour chaque prédiction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1C27B4C-7E86-B08F-40CB-B9B13DC3F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599" y="2305222"/>
            <a:ext cx="9270567" cy="5715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-10800000">
            <a:off x="13962050" y="-1511325"/>
            <a:ext cx="5151463" cy="2368575"/>
            <a:chOff x="0" y="0"/>
            <a:chExt cx="1223810" cy="5626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028700" y="-773671"/>
            <a:ext cx="16014700" cy="1198000"/>
            <a:chOff x="0" y="0"/>
            <a:chExt cx="8542899" cy="639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0" y="9429750"/>
            <a:ext cx="5151463" cy="2368575"/>
            <a:chOff x="0" y="0"/>
            <a:chExt cx="1223810" cy="5626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12192013" y="9840367"/>
            <a:ext cx="16014700" cy="1198000"/>
            <a:chOff x="0" y="0"/>
            <a:chExt cx="8542899" cy="6390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42899" cy="639062"/>
            </a:xfrm>
            <a:custGeom>
              <a:avLst/>
              <a:gdLst/>
              <a:ahLst/>
              <a:cxnLst/>
              <a:rect l="l" t="t" r="r" b="b"/>
              <a:pathLst>
                <a:path w="8542899" h="639062">
                  <a:moveTo>
                    <a:pt x="8542899" y="319531"/>
                  </a:moveTo>
                  <a:lnTo>
                    <a:pt x="8339699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8339699" y="0"/>
                  </a:lnTo>
                  <a:lnTo>
                    <a:pt x="8542899" y="319531"/>
                  </a:lnTo>
                  <a:close/>
                </a:path>
              </a:pathLst>
            </a:custGeom>
            <a:solidFill>
              <a:srgbClr val="7B95F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4300" y="-47625"/>
              <a:ext cx="8314299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575732" y="604795"/>
            <a:ext cx="6568268" cy="1510702"/>
          </a:xfrm>
          <a:custGeom>
            <a:avLst/>
            <a:gdLst/>
            <a:ahLst/>
            <a:cxnLst/>
            <a:rect l="l" t="t" r="r" b="b"/>
            <a:pathLst>
              <a:path w="6568268" h="1510702">
                <a:moveTo>
                  <a:pt x="0" y="0"/>
                </a:moveTo>
                <a:lnTo>
                  <a:pt x="6568268" y="0"/>
                </a:lnTo>
                <a:lnTo>
                  <a:pt x="6568268" y="1510702"/>
                </a:lnTo>
                <a:lnTo>
                  <a:pt x="0" y="1510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45319" y="493033"/>
            <a:ext cx="1552403" cy="1552403"/>
          </a:xfrm>
          <a:custGeom>
            <a:avLst/>
            <a:gdLst/>
            <a:ahLst/>
            <a:cxnLst/>
            <a:rect l="l" t="t" r="r" b="b"/>
            <a:pathLst>
              <a:path w="1552403" h="1552403">
                <a:moveTo>
                  <a:pt x="0" y="0"/>
                </a:moveTo>
                <a:lnTo>
                  <a:pt x="1552403" y="0"/>
                </a:lnTo>
                <a:lnTo>
                  <a:pt x="1552403" y="1552403"/>
                </a:lnTo>
                <a:lnTo>
                  <a:pt x="0" y="15524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33431" y="851797"/>
            <a:ext cx="1976180" cy="64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8"/>
              </a:lnSpc>
              <a:spcBef>
                <a:spcPct val="0"/>
              </a:spcBef>
            </a:pPr>
            <a:r>
              <a:rPr lang="en-US" sz="3734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09610" y="1183076"/>
            <a:ext cx="702374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fr-FR" sz="4000" b="1" dirty="0">
                <a:solidFill>
                  <a:schemeClr val="bg1"/>
                </a:solidFill>
              </a:rPr>
              <a:t>Évaluation et Résultats</a:t>
            </a:r>
            <a:endParaRPr lang="en-US" sz="3600" b="1" dirty="0">
              <a:solidFill>
                <a:schemeClr val="bg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7259300" y="9258300"/>
            <a:ext cx="892575" cy="892575"/>
            <a:chOff x="0" y="0"/>
            <a:chExt cx="902234" cy="9022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14</a:t>
              </a:r>
            </a:p>
          </p:txBody>
        </p: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1E5BFF65-CF1C-CD04-A793-6F9DE8DA9DAF}"/>
              </a:ext>
            </a:extLst>
          </p:cNvPr>
          <p:cNvSpPr txBox="1"/>
          <p:nvPr/>
        </p:nvSpPr>
        <p:spPr>
          <a:xfrm>
            <a:off x="545319" y="2772836"/>
            <a:ext cx="95892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dirty="0"/>
              <a:t>📐 Métriques d’évaluation</a:t>
            </a:r>
            <a:r>
              <a:rPr lang="fr-FR" sz="3600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b="1" dirty="0"/>
              <a:t>R² Score</a:t>
            </a:r>
            <a:r>
              <a:rPr lang="fr-FR" sz="3600" dirty="0"/>
              <a:t> : qualité du modèle (1 = parfait)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b="1" dirty="0"/>
              <a:t>MAE</a:t>
            </a:r>
            <a:r>
              <a:rPr lang="fr-FR" sz="3600" dirty="0"/>
              <a:t> (</a:t>
            </a:r>
            <a:r>
              <a:rPr lang="fr-FR" sz="3600" dirty="0" err="1"/>
              <a:t>Mean</a:t>
            </a:r>
            <a:r>
              <a:rPr lang="fr-FR" sz="3600" dirty="0"/>
              <a:t> </a:t>
            </a:r>
            <a:r>
              <a:rPr lang="fr-FR" sz="3600" dirty="0" err="1"/>
              <a:t>Absolute</a:t>
            </a:r>
            <a:r>
              <a:rPr lang="fr-FR" sz="3600" dirty="0"/>
              <a:t> </a:t>
            </a:r>
            <a:r>
              <a:rPr lang="fr-FR" sz="3600" dirty="0" err="1"/>
              <a:t>Error</a:t>
            </a:r>
            <a:r>
              <a:rPr lang="fr-FR" sz="3600" dirty="0"/>
              <a:t>) : erreur moyenne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3600" dirty="0"/>
          </a:p>
          <a:p>
            <a:pPr>
              <a:buNone/>
            </a:pPr>
            <a:r>
              <a:rPr lang="fr-FR" sz="3600" b="1" dirty="0"/>
              <a:t>🛠 Gestion des cas spéciaux</a:t>
            </a:r>
            <a:r>
              <a:rPr lang="fr-FR" sz="3600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Séries de données très courtes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Données stables (pas d’évolution)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600" dirty="0"/>
              <a:t>Détection de changement brusque de tendance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8552-AF3C-07CD-5A78-1B996857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5D5491-C435-2CB7-AD3E-54234E1D0D0D}"/>
              </a:ext>
            </a:extLst>
          </p:cNvPr>
          <p:cNvSpPr/>
          <p:nvPr/>
        </p:nvSpPr>
        <p:spPr>
          <a:xfrm>
            <a:off x="-17611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54E06AB-764C-0A75-0D08-8DB09090B2FE}"/>
              </a:ext>
            </a:extLst>
          </p:cNvPr>
          <p:cNvGrpSpPr/>
          <p:nvPr/>
        </p:nvGrpSpPr>
        <p:grpSpPr>
          <a:xfrm>
            <a:off x="14564053" y="-1477201"/>
            <a:ext cx="5390494" cy="2982376"/>
            <a:chOff x="0" y="0"/>
            <a:chExt cx="7187325" cy="3976501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85B51A0-9117-9D60-CD7E-052F960A77E7}"/>
                </a:ext>
              </a:extLst>
            </p:cNvPr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7EF3906-20E3-06F3-18F5-57AE739651C0}"/>
                  </a:ext>
                </a:extLst>
              </p:cNvPr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47EBE62-0C35-19CC-9A37-E5FBD9057396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9B96E90-ECC6-42F3-40FE-F7DBF044F0CB}"/>
                </a:ext>
              </a:extLst>
            </p:cNvPr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C6475CD-4084-39D8-C2BE-C0CFBC1D4960}"/>
                  </a:ext>
                </a:extLst>
              </p:cNvPr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5271FF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827B23F4-6034-22CC-CC8C-0A4A5FF71CEA}"/>
                  </a:ext>
                </a:extLst>
              </p:cNvPr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31F0B54-A8C5-18DF-05C0-BB3CDB4E68DA}"/>
              </a:ext>
            </a:extLst>
          </p:cNvPr>
          <p:cNvGrpSpPr/>
          <p:nvPr/>
        </p:nvGrpSpPr>
        <p:grpSpPr>
          <a:xfrm>
            <a:off x="-673113" y="9251081"/>
            <a:ext cx="5321313" cy="2446670"/>
            <a:chOff x="0" y="0"/>
            <a:chExt cx="1223810" cy="56269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DB50722-D3E7-2AAB-1DA3-1E6E0565DD82}"/>
                </a:ext>
              </a:extLst>
            </p:cNvPr>
            <p:cNvSpPr/>
            <p:nvPr/>
          </p:nvSpPr>
          <p:spPr>
            <a:xfrm>
              <a:off x="0" y="0"/>
              <a:ext cx="1223810" cy="562692"/>
            </a:xfrm>
            <a:custGeom>
              <a:avLst/>
              <a:gdLst/>
              <a:ahLst/>
              <a:cxnLst/>
              <a:rect l="l" t="t" r="r" b="b"/>
              <a:pathLst>
                <a:path w="1223810" h="562692">
                  <a:moveTo>
                    <a:pt x="1223810" y="281346"/>
                  </a:moveTo>
                  <a:lnTo>
                    <a:pt x="102061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20610" y="0"/>
                  </a:lnTo>
                  <a:lnTo>
                    <a:pt x="1223810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AE1B065-1F39-1979-D728-CA3D1C7C7BF6}"/>
                </a:ext>
              </a:extLst>
            </p:cNvPr>
            <p:cNvSpPr txBox="1"/>
            <p:nvPr/>
          </p:nvSpPr>
          <p:spPr>
            <a:xfrm>
              <a:off x="114300" y="-47625"/>
              <a:ext cx="995210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22A6CF8-F362-471F-EF27-4C1C4A553F30}"/>
              </a:ext>
            </a:extLst>
          </p:cNvPr>
          <p:cNvGrpSpPr/>
          <p:nvPr/>
        </p:nvGrpSpPr>
        <p:grpSpPr>
          <a:xfrm>
            <a:off x="-673113" y="8675100"/>
            <a:ext cx="2673102" cy="1151961"/>
            <a:chOff x="0" y="0"/>
            <a:chExt cx="1482931" cy="639062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B1EFE5C-7EA3-16B9-A92A-CAFD96A4D777}"/>
                </a:ext>
              </a:extLst>
            </p:cNvPr>
            <p:cNvSpPr/>
            <p:nvPr/>
          </p:nvSpPr>
          <p:spPr>
            <a:xfrm>
              <a:off x="0" y="0"/>
              <a:ext cx="1482931" cy="639062"/>
            </a:xfrm>
            <a:custGeom>
              <a:avLst/>
              <a:gdLst/>
              <a:ahLst/>
              <a:cxnLst/>
              <a:rect l="l" t="t" r="r" b="b"/>
              <a:pathLst>
                <a:path w="1482931" h="639062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004AAD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F9796C5-3D07-2061-5A16-F63CC91D199D}"/>
                </a:ext>
              </a:extLst>
            </p:cNvPr>
            <p:cNvSpPr txBox="1"/>
            <p:nvPr/>
          </p:nvSpPr>
          <p:spPr>
            <a:xfrm>
              <a:off x="114300" y="-47625"/>
              <a:ext cx="1254331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3B60334-0E02-185D-4916-E5EE7687ECBD}"/>
              </a:ext>
            </a:extLst>
          </p:cNvPr>
          <p:cNvGrpSpPr/>
          <p:nvPr/>
        </p:nvGrpSpPr>
        <p:grpSpPr>
          <a:xfrm>
            <a:off x="2450358" y="9762097"/>
            <a:ext cx="14808942" cy="1198000"/>
            <a:chOff x="0" y="0"/>
            <a:chExt cx="7899698" cy="639062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A4C2C3E-735B-FE73-AACD-0AA3F9E39047}"/>
                </a:ext>
              </a:extLst>
            </p:cNvPr>
            <p:cNvSpPr/>
            <p:nvPr/>
          </p:nvSpPr>
          <p:spPr>
            <a:xfrm>
              <a:off x="0" y="0"/>
              <a:ext cx="7899698" cy="639062"/>
            </a:xfrm>
            <a:custGeom>
              <a:avLst/>
              <a:gdLst/>
              <a:ahLst/>
              <a:cxnLst/>
              <a:rect l="l" t="t" r="r" b="b"/>
              <a:pathLst>
                <a:path w="7899698" h="639062">
                  <a:moveTo>
                    <a:pt x="7899698" y="319531"/>
                  </a:moveTo>
                  <a:lnTo>
                    <a:pt x="7696498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7696498" y="0"/>
                  </a:lnTo>
                  <a:lnTo>
                    <a:pt x="7899698" y="319531"/>
                  </a:lnTo>
                  <a:close/>
                </a:path>
              </a:pathLst>
            </a:custGeom>
            <a:solidFill>
              <a:srgbClr val="5271FF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7AA245F-5B0A-FA4E-83D0-996A8A8AA5AF}"/>
                </a:ext>
              </a:extLst>
            </p:cNvPr>
            <p:cNvSpPr txBox="1"/>
            <p:nvPr/>
          </p:nvSpPr>
          <p:spPr>
            <a:xfrm>
              <a:off x="114300" y="-47625"/>
              <a:ext cx="7671098" cy="686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Freeform 19">
            <a:extLst>
              <a:ext uri="{FF2B5EF4-FFF2-40B4-BE49-F238E27FC236}">
                <a16:creationId xmlns:a16="http://schemas.microsoft.com/office/drawing/2014/main" id="{207288E4-5717-BC2F-17AE-F90064928A4D}"/>
              </a:ext>
            </a:extLst>
          </p:cNvPr>
          <p:cNvSpPr/>
          <p:nvPr/>
        </p:nvSpPr>
        <p:spPr>
          <a:xfrm rot="-5400000">
            <a:off x="-1086039" y="3863443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3484"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302DB9C-ADB9-C44C-BD04-992C26175743}"/>
              </a:ext>
            </a:extLst>
          </p:cNvPr>
          <p:cNvSpPr/>
          <p:nvPr/>
        </p:nvSpPr>
        <p:spPr>
          <a:xfrm>
            <a:off x="17043400" y="-184885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3"/>
                </a:lnTo>
                <a:lnTo>
                  <a:pt x="0" y="397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5E803C5E-11AB-DF3B-E92C-BE49F46C18E3}"/>
              </a:ext>
            </a:extLst>
          </p:cNvPr>
          <p:cNvSpPr/>
          <p:nvPr/>
        </p:nvSpPr>
        <p:spPr>
          <a:xfrm>
            <a:off x="2952724" y="10076674"/>
            <a:ext cx="1529778" cy="397742"/>
          </a:xfrm>
          <a:custGeom>
            <a:avLst/>
            <a:gdLst/>
            <a:ahLst/>
            <a:cxnLst/>
            <a:rect l="l" t="t" r="r" b="b"/>
            <a:pathLst>
              <a:path w="1529778" h="397742">
                <a:moveTo>
                  <a:pt x="0" y="0"/>
                </a:moveTo>
                <a:lnTo>
                  <a:pt x="1529778" y="0"/>
                </a:lnTo>
                <a:lnTo>
                  <a:pt x="1529778" y="397742"/>
                </a:lnTo>
                <a:lnTo>
                  <a:pt x="0" y="3977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32ACE052-4158-1168-6609-59C2E1EA692E}"/>
              </a:ext>
            </a:extLst>
          </p:cNvPr>
          <p:cNvSpPr/>
          <p:nvPr/>
        </p:nvSpPr>
        <p:spPr>
          <a:xfrm>
            <a:off x="17808289" y="6000750"/>
            <a:ext cx="991473" cy="677919"/>
          </a:xfrm>
          <a:custGeom>
            <a:avLst/>
            <a:gdLst/>
            <a:ahLst/>
            <a:cxnLst/>
            <a:rect l="l" t="t" r="r" b="b"/>
            <a:pathLst>
              <a:path w="991473" h="677919">
                <a:moveTo>
                  <a:pt x="0" y="0"/>
                </a:moveTo>
                <a:lnTo>
                  <a:pt x="991473" y="0"/>
                </a:lnTo>
                <a:lnTo>
                  <a:pt x="991473" y="677919"/>
                </a:lnTo>
                <a:lnTo>
                  <a:pt x="0" y="6779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597F77E-1D1E-319D-0816-8C6D4726B7B0}"/>
              </a:ext>
            </a:extLst>
          </p:cNvPr>
          <p:cNvSpPr/>
          <p:nvPr/>
        </p:nvSpPr>
        <p:spPr>
          <a:xfrm>
            <a:off x="11399076" y="9978798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B7775C33-4151-6E38-0CF9-07D06EB4A9D2}"/>
              </a:ext>
            </a:extLst>
          </p:cNvPr>
          <p:cNvSpPr/>
          <p:nvPr/>
        </p:nvSpPr>
        <p:spPr>
          <a:xfrm>
            <a:off x="13138183" y="6339710"/>
            <a:ext cx="2851740" cy="1886816"/>
          </a:xfrm>
          <a:custGeom>
            <a:avLst/>
            <a:gdLst/>
            <a:ahLst/>
            <a:cxnLst/>
            <a:rect l="l" t="t" r="r" b="b"/>
            <a:pathLst>
              <a:path w="3802320" h="2515754">
                <a:moveTo>
                  <a:pt x="0" y="0"/>
                </a:moveTo>
                <a:lnTo>
                  <a:pt x="3802320" y="0"/>
                </a:lnTo>
                <a:lnTo>
                  <a:pt x="3802320" y="2515754"/>
                </a:lnTo>
                <a:lnTo>
                  <a:pt x="0" y="25157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693F2702-5FEE-263D-1A8F-6045F92A9E72}"/>
              </a:ext>
            </a:extLst>
          </p:cNvPr>
          <p:cNvSpPr/>
          <p:nvPr/>
        </p:nvSpPr>
        <p:spPr>
          <a:xfrm>
            <a:off x="1152229" y="6211669"/>
            <a:ext cx="2851740" cy="1315316"/>
          </a:xfrm>
          <a:custGeom>
            <a:avLst/>
            <a:gdLst/>
            <a:ahLst/>
            <a:cxnLst/>
            <a:rect l="l" t="t" r="r" b="b"/>
            <a:pathLst>
              <a:path w="3802320" h="1753754">
                <a:moveTo>
                  <a:pt x="0" y="0"/>
                </a:moveTo>
                <a:lnTo>
                  <a:pt x="3802320" y="0"/>
                </a:lnTo>
                <a:lnTo>
                  <a:pt x="3802320" y="1753754"/>
                </a:lnTo>
                <a:lnTo>
                  <a:pt x="0" y="17537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D6C69B52-5F15-C0FB-68D6-6D9EE3C67AD3}"/>
              </a:ext>
            </a:extLst>
          </p:cNvPr>
          <p:cNvGrpSpPr/>
          <p:nvPr/>
        </p:nvGrpSpPr>
        <p:grpSpPr>
          <a:xfrm>
            <a:off x="-6388211" y="-5535870"/>
            <a:ext cx="10870713" cy="10119133"/>
            <a:chOff x="0" y="0"/>
            <a:chExt cx="604485" cy="562692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28CA4D99-352B-2CD7-619F-E53E9C50DDAD}"/>
                </a:ext>
              </a:extLst>
            </p:cNvPr>
            <p:cNvSpPr/>
            <p:nvPr/>
          </p:nvSpPr>
          <p:spPr>
            <a:xfrm>
              <a:off x="0" y="0"/>
              <a:ext cx="604485" cy="562692"/>
            </a:xfrm>
            <a:custGeom>
              <a:avLst/>
              <a:gdLst/>
              <a:ahLst/>
              <a:cxnLst/>
              <a:rect l="l" t="t" r="r" b="b"/>
              <a:pathLst>
                <a:path w="604485" h="562692">
                  <a:moveTo>
                    <a:pt x="604485" y="281346"/>
                  </a:moveTo>
                  <a:lnTo>
                    <a:pt x="401285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401285" y="0"/>
                  </a:lnTo>
                  <a:lnTo>
                    <a:pt x="604485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1DB273FC-CD60-5020-F2F1-88E4D3533897}"/>
                </a:ext>
              </a:extLst>
            </p:cNvPr>
            <p:cNvSpPr txBox="1"/>
            <p:nvPr/>
          </p:nvSpPr>
          <p:spPr>
            <a:xfrm>
              <a:off x="114300" y="-47625"/>
              <a:ext cx="375885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43" name="TextBox 43">
            <a:extLst>
              <a:ext uri="{FF2B5EF4-FFF2-40B4-BE49-F238E27FC236}">
                <a16:creationId xmlns:a16="http://schemas.microsoft.com/office/drawing/2014/main" id="{CC7AC03A-9E68-8CAC-BCB5-5A4C54EBB729}"/>
              </a:ext>
            </a:extLst>
          </p:cNvPr>
          <p:cNvSpPr txBox="1"/>
          <p:nvPr/>
        </p:nvSpPr>
        <p:spPr>
          <a:xfrm>
            <a:off x="3535996" y="410362"/>
            <a:ext cx="11216008" cy="1135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</a:pPr>
            <a:r>
              <a:rPr lang="fr-FR" sz="9600" b="1" dirty="0">
                <a:solidFill>
                  <a:schemeClr val="tx2"/>
                </a:solidFill>
                <a:latin typeface="Open Sans 1 Bold" panose="020B0604020202020204" charset="0"/>
                <a:ea typeface="Open Sans 1 Bold" panose="020B0604020202020204" charset="0"/>
                <a:cs typeface="Open Sans 1 Bold" panose="020B0604020202020204" charset="0"/>
              </a:rPr>
              <a:t>Démonstration</a:t>
            </a:r>
            <a:endParaRPr lang="en-US" sz="8800" b="1" dirty="0">
              <a:solidFill>
                <a:schemeClr val="tx2"/>
              </a:solidFill>
              <a:latin typeface="Open Sans 1 Bold" panose="020B0604020202020204" charset="0"/>
              <a:ea typeface="Open Sans 1 Bold" panose="020B0604020202020204" charset="0"/>
              <a:cs typeface="Open Sans 1 Bold" panose="020B0604020202020204" charset="0"/>
              <a:sym typeface="Open Sans 1 Bold"/>
            </a:endParaRPr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1CFD9AD9-FC8A-9F08-EFE6-E138E1F539C9}"/>
              </a:ext>
            </a:extLst>
          </p:cNvPr>
          <p:cNvGrpSpPr/>
          <p:nvPr/>
        </p:nvGrpSpPr>
        <p:grpSpPr>
          <a:xfrm>
            <a:off x="17259300" y="9258300"/>
            <a:ext cx="892575" cy="892575"/>
            <a:chOff x="0" y="0"/>
            <a:chExt cx="902234" cy="902234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8739EE5-047D-C3B9-1E4F-990ED09D1188}"/>
                </a:ext>
              </a:extLst>
            </p:cNvPr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7290426D-CFEC-5E6D-79D6-AA1FF41393F5}"/>
                </a:ext>
              </a:extLst>
            </p:cNvPr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15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2AD72C5-7632-F4EE-1394-636A39693B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6791" y="1771868"/>
            <a:ext cx="13960559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69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388211" y="-5535870"/>
            <a:ext cx="14135211" cy="10119133"/>
            <a:chOff x="0" y="0"/>
            <a:chExt cx="786013" cy="5626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6013" cy="562692"/>
            </a:xfrm>
            <a:custGeom>
              <a:avLst/>
              <a:gdLst/>
              <a:ahLst/>
              <a:cxnLst/>
              <a:rect l="l" t="t" r="r" b="b"/>
              <a:pathLst>
                <a:path w="786013" h="562692">
                  <a:moveTo>
                    <a:pt x="786013" y="281346"/>
                  </a:moveTo>
                  <a:lnTo>
                    <a:pt x="58281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582813" y="0"/>
                  </a:lnTo>
                  <a:lnTo>
                    <a:pt x="786013" y="28134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14300" y="-47625"/>
              <a:ext cx="557413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306113" y="6253799"/>
            <a:ext cx="7610964" cy="5057823"/>
            <a:chOff x="0" y="0"/>
            <a:chExt cx="846733" cy="5626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6733" cy="562692"/>
            </a:xfrm>
            <a:custGeom>
              <a:avLst/>
              <a:gdLst/>
              <a:ahLst/>
              <a:cxnLst/>
              <a:rect l="l" t="t" r="r" b="b"/>
              <a:pathLst>
                <a:path w="846733" h="562692">
                  <a:moveTo>
                    <a:pt x="846733" y="281346"/>
                  </a:moveTo>
                  <a:lnTo>
                    <a:pt x="64353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643533" y="0"/>
                  </a:lnTo>
                  <a:lnTo>
                    <a:pt x="846733" y="281346"/>
                  </a:lnTo>
                  <a:close/>
                </a:path>
              </a:pathLst>
            </a:custGeom>
            <a:solidFill>
              <a:srgbClr val="7B95F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14300" y="-47625"/>
              <a:ext cx="618133" cy="610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564053" y="-1477201"/>
            <a:ext cx="5390494" cy="2982376"/>
            <a:chOff x="0" y="0"/>
            <a:chExt cx="7187325" cy="3976501"/>
          </a:xfrm>
        </p:grpSpPr>
        <p:grpSp>
          <p:nvGrpSpPr>
            <p:cNvPr id="10" name="Group 10"/>
            <p:cNvGrpSpPr/>
            <p:nvPr/>
          </p:nvGrpSpPr>
          <p:grpSpPr>
            <a:xfrm rot="-10800000">
              <a:off x="0" y="0"/>
              <a:ext cx="7187325" cy="3262226"/>
              <a:chOff x="0" y="0"/>
              <a:chExt cx="1239720" cy="56269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-10800000">
              <a:off x="2511062" y="2547952"/>
              <a:ext cx="3673400" cy="1428550"/>
              <a:chOff x="0" y="0"/>
              <a:chExt cx="1643297" cy="6390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7B95F9"/>
              </a:solidFill>
              <a:ln w="571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8216900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61128"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3484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28700" y="528080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449810" y="6858000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7919895" y="9853727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361488" y="509030"/>
            <a:ext cx="17399118" cy="53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1"/>
              </a:lnSpc>
            </a:pPr>
            <a:r>
              <a:rPr lang="en-US" sz="14200" b="1" dirty="0">
                <a:solidFill>
                  <a:schemeClr val="tx2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Conclusion</a:t>
            </a:r>
            <a:endParaRPr lang="en-US" sz="16969" b="1" dirty="0">
              <a:solidFill>
                <a:schemeClr val="tx2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  <a:p>
            <a:pPr algn="l">
              <a:lnSpc>
                <a:spcPts val="21211"/>
              </a:lnSpc>
            </a:pPr>
            <a:endParaRPr lang="en-US" sz="16969" b="1" dirty="0">
              <a:solidFill>
                <a:srgbClr val="004AAD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6597112" y="9045301"/>
            <a:ext cx="892575" cy="892575"/>
            <a:chOff x="0" y="0"/>
            <a:chExt cx="902234" cy="9022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02208" cy="902208"/>
            </a:xfrm>
            <a:custGeom>
              <a:avLst/>
              <a:gdLst/>
              <a:ahLst/>
              <a:cxnLst/>
              <a:rect l="l" t="t" r="r" b="b"/>
              <a:pathLst>
                <a:path w="902208" h="902208">
                  <a:moveTo>
                    <a:pt x="0" y="451104"/>
                  </a:moveTo>
                  <a:cubicBezTo>
                    <a:pt x="0" y="201930"/>
                    <a:pt x="201930" y="0"/>
                    <a:pt x="451104" y="0"/>
                  </a:cubicBezTo>
                  <a:cubicBezTo>
                    <a:pt x="700278" y="0"/>
                    <a:pt x="902208" y="201930"/>
                    <a:pt x="902208" y="451104"/>
                  </a:cubicBezTo>
                  <a:cubicBezTo>
                    <a:pt x="902208" y="700278"/>
                    <a:pt x="700278" y="902208"/>
                    <a:pt x="451104" y="902208"/>
                  </a:cubicBezTo>
                  <a:cubicBezTo>
                    <a:pt x="201930" y="902208"/>
                    <a:pt x="0" y="700278"/>
                    <a:pt x="0" y="451104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902234" cy="892709"/>
            </a:xfrm>
            <a:prstGeom prst="rect">
              <a:avLst/>
            </a:prstGeom>
          </p:spPr>
          <p:txBody>
            <a:bodyPr lIns="67008" tIns="67008" rIns="67008" bIns="67008" rtlCol="0" anchor="ctr"/>
            <a:lstStyle/>
            <a:p>
              <a:pPr algn="ctr">
                <a:lnSpc>
                  <a:spcPts val="4273"/>
                </a:lnSpc>
              </a:pPr>
              <a:r>
                <a:rPr lang="en-US" sz="3561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16</a:t>
              </a:r>
            </a:p>
          </p:txBody>
        </p:sp>
      </p:grpSp>
      <p:sp>
        <p:nvSpPr>
          <p:cNvPr id="26" name="ZoneTexte 24">
            <a:extLst>
              <a:ext uri="{FF2B5EF4-FFF2-40B4-BE49-F238E27FC236}">
                <a16:creationId xmlns:a16="http://schemas.microsoft.com/office/drawing/2014/main" id="{C5A153AA-299E-06A4-0D25-0B4821C6ABB2}"/>
              </a:ext>
            </a:extLst>
          </p:cNvPr>
          <p:cNvSpPr txBox="1"/>
          <p:nvPr/>
        </p:nvSpPr>
        <p:spPr>
          <a:xfrm>
            <a:off x="5033064" y="3931811"/>
            <a:ext cx="126111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/>
              <a:t>Le projet a permis de créer un outil complet pour le suivi et la prédiction du COVID-19, combinant base NoSQL, API, modèles de Machine Learning et </a:t>
            </a:r>
            <a:r>
              <a:rPr lang="fr-FR" sz="4400" dirty="0" err="1"/>
              <a:t>dashboard</a:t>
            </a:r>
            <a:r>
              <a:rPr lang="fr-FR" sz="4400" dirty="0"/>
              <a:t> interactif. Il offre des résultats fiables et une interface intuitive, avec un fort potentiel d’impact et des pistes d’amélioration futures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7600" y="342900"/>
            <a:ext cx="5380101" cy="8229600"/>
          </a:xfrm>
          <a:custGeom>
            <a:avLst/>
            <a:gdLst/>
            <a:ahLst/>
            <a:cxnLst/>
            <a:rect l="l" t="t" r="r" b="b"/>
            <a:pathLst>
              <a:path w="5380101" h="8229600">
                <a:moveTo>
                  <a:pt x="0" y="0"/>
                </a:moveTo>
                <a:lnTo>
                  <a:pt x="5380101" y="0"/>
                </a:lnTo>
                <a:lnTo>
                  <a:pt x="53801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17107" y="8938577"/>
            <a:ext cx="1045378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Railey"/>
                <a:ea typeface="Railey"/>
                <a:cs typeface="Railey"/>
                <a:sym typeface="Railey"/>
              </a:rPr>
              <a:t>Merci pour votre attention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554</Words>
  <Application>Microsoft Office PowerPoint</Application>
  <PresentationFormat>Custom</PresentationFormat>
  <Paragraphs>114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Archivo Black</vt:lpstr>
      <vt:lpstr>Open Sans 1 Bold</vt:lpstr>
      <vt:lpstr>Noto Sans</vt:lpstr>
      <vt:lpstr>Open Sans 1</vt:lpstr>
      <vt:lpstr>Arial</vt:lpstr>
      <vt:lpstr>Times New Roman</vt:lpstr>
      <vt:lpstr>Arial Unicode MS</vt:lpstr>
      <vt:lpstr>Railey</vt:lpstr>
      <vt:lpstr>League Spartan</vt:lpstr>
      <vt:lpstr>Noto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Modern Project Proposal Presentation</dc:title>
  <cp:lastModifiedBy>mustaphabencheikh8@gmail.com</cp:lastModifiedBy>
  <cp:revision>18</cp:revision>
  <dcterms:created xsi:type="dcterms:W3CDTF">2006-08-16T00:00:00Z</dcterms:created>
  <dcterms:modified xsi:type="dcterms:W3CDTF">2025-06-26T11:38:50Z</dcterms:modified>
  <dc:identifier>DAGloZnLSKM</dc:identifier>
</cp:coreProperties>
</file>